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7556500" cy="10693400"/>
  <p:notesSz cx="6858000" cy="9144000"/>
  <p:embeddedFontLst>
    <p:embeddedFont>
      <p:font typeface="Montserrat 1 Bold" charset="1" panose="00000800000000000000"/>
      <p:regular r:id="rId22"/>
    </p:embeddedFont>
    <p:embeddedFont>
      <p:font typeface="Chicalo" charset="1" panose="00000000000000000000"/>
      <p:regular r:id="rId23"/>
    </p:embeddedFont>
    <p:embeddedFont>
      <p:font typeface="Montserrat 2" charset="1" panose="00000000000000000000"/>
      <p:regular r:id="rId24"/>
    </p:embeddedFont>
    <p:embeddedFont>
      <p:font typeface="Montserrat 1" charset="1" panose="00000500000000000000"/>
      <p:regular r:id="rId25"/>
    </p:embeddedFont>
    <p:embeddedFont>
      <p:font typeface="Canva Sans Bold"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623721" y="9685964"/>
            <a:ext cx="6312557" cy="500072"/>
            <a:chOff x="0" y="0"/>
            <a:chExt cx="8416743" cy="666763"/>
          </a:xfrm>
        </p:grpSpPr>
        <p:sp>
          <p:nvSpPr>
            <p:cNvPr name="Freeform 4" id="4"/>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5" id="5"/>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grpSp>
        <p:nvGrpSpPr>
          <p:cNvPr name="Group 6" id="6"/>
          <p:cNvGrpSpPr/>
          <p:nvPr/>
        </p:nvGrpSpPr>
        <p:grpSpPr>
          <a:xfrm rot="0">
            <a:off x="1060822" y="4189312"/>
            <a:ext cx="5438356" cy="2313377"/>
            <a:chOff x="0" y="0"/>
            <a:chExt cx="7251141" cy="3084502"/>
          </a:xfrm>
        </p:grpSpPr>
        <p:sp>
          <p:nvSpPr>
            <p:cNvPr name="Freeform 7" id="7"/>
            <p:cNvSpPr/>
            <p:nvPr/>
          </p:nvSpPr>
          <p:spPr>
            <a:xfrm flipH="false" flipV="false" rot="0">
              <a:off x="0" y="0"/>
              <a:ext cx="2839372" cy="2839372"/>
            </a:xfrm>
            <a:custGeom>
              <a:avLst/>
              <a:gdLst/>
              <a:ahLst/>
              <a:cxnLst/>
              <a:rect r="r" b="b" t="t" l="l"/>
              <a:pathLst>
                <a:path h="2839372" w="2839372">
                  <a:moveTo>
                    <a:pt x="0" y="0"/>
                  </a:moveTo>
                  <a:lnTo>
                    <a:pt x="2839372" y="0"/>
                  </a:lnTo>
                  <a:lnTo>
                    <a:pt x="2839372" y="2839372"/>
                  </a:lnTo>
                  <a:lnTo>
                    <a:pt x="0" y="2839372"/>
                  </a:lnTo>
                  <a:lnTo>
                    <a:pt x="0" y="0"/>
                  </a:lnTo>
                  <a:close/>
                </a:path>
              </a:pathLst>
            </a:custGeom>
            <a:blipFill>
              <a:blip r:embed="rId3"/>
              <a:stretch>
                <a:fillRect l="0" t="0" r="0" b="0"/>
              </a:stretch>
            </a:blipFill>
          </p:spPr>
        </p:sp>
        <p:sp>
          <p:nvSpPr>
            <p:cNvPr name="TextBox 8" id="8"/>
            <p:cNvSpPr txBox="true"/>
            <p:nvPr/>
          </p:nvSpPr>
          <p:spPr>
            <a:xfrm rot="0">
              <a:off x="3159210" y="-104775"/>
              <a:ext cx="4091931" cy="3189277"/>
            </a:xfrm>
            <a:prstGeom prst="rect">
              <a:avLst/>
            </a:prstGeom>
          </p:spPr>
          <p:txBody>
            <a:bodyPr anchor="t" rtlCol="false" tIns="0" lIns="0" bIns="0" rIns="0">
              <a:spAutoFit/>
            </a:bodyPr>
            <a:lstStyle/>
            <a:p>
              <a:pPr algn="l">
                <a:lnSpc>
                  <a:spcPts val="6459"/>
                </a:lnSpc>
              </a:pPr>
              <a:r>
                <a:rPr lang="en-US" sz="4614">
                  <a:solidFill>
                    <a:srgbClr val="FAFAFA"/>
                  </a:solidFill>
                  <a:latin typeface="Chicalo"/>
                  <a:ea typeface="Chicalo"/>
                  <a:cs typeface="Chicalo"/>
                  <a:sym typeface="Chicalo"/>
                </a:rPr>
                <a:t>Kronik</a:t>
              </a:r>
            </a:p>
            <a:p>
              <a:pPr algn="l">
                <a:lnSpc>
                  <a:spcPts val="6459"/>
                </a:lnSpc>
              </a:pPr>
              <a:r>
                <a:rPr lang="en-US" sz="4614">
                  <a:solidFill>
                    <a:srgbClr val="FAFAFA"/>
                  </a:solidFill>
                  <a:latin typeface="Chicalo"/>
                  <a:ea typeface="Chicalo"/>
                  <a:cs typeface="Chicalo"/>
                  <a:sym typeface="Chicalo"/>
                </a:rPr>
                <a:t>Nonton</a:t>
              </a:r>
            </a:p>
            <a:p>
              <a:pPr algn="l">
                <a:lnSpc>
                  <a:spcPts val="6459"/>
                </a:lnSpc>
              </a:pPr>
              <a:r>
                <a:rPr lang="en-US" sz="4614">
                  <a:solidFill>
                    <a:srgbClr val="FAFAFA"/>
                  </a:solidFill>
                  <a:latin typeface="Chicalo"/>
                  <a:ea typeface="Chicalo"/>
                  <a:cs typeface="Chicalo"/>
                  <a:sym typeface="Chicalo"/>
                </a:rPr>
                <a:t>Film 2025 </a:t>
              </a:r>
            </a:p>
          </p:txBody>
        </p:sp>
      </p:grpSp>
      <p:sp>
        <p:nvSpPr>
          <p:cNvPr name="TextBox 9" id="9"/>
          <p:cNvSpPr txBox="true"/>
          <p:nvPr/>
        </p:nvSpPr>
        <p:spPr>
          <a:xfrm rot="0">
            <a:off x="2268000" y="9490702"/>
            <a:ext cx="3024000" cy="381000"/>
          </a:xfrm>
          <a:prstGeom prst="rect">
            <a:avLst/>
          </a:prstGeom>
        </p:spPr>
        <p:txBody>
          <a:bodyPr anchor="t" rtlCol="false" tIns="0" lIns="0" bIns="0" rIns="0">
            <a:spAutoFit/>
          </a:bodyPr>
          <a:lstStyle/>
          <a:p>
            <a:pPr algn="l">
              <a:lnSpc>
                <a:spcPts val="2924"/>
              </a:lnSpc>
            </a:pPr>
            <a:r>
              <a:rPr lang="en-US" sz="2499">
                <a:solidFill>
                  <a:srgbClr val="FAFAFA"/>
                </a:solidFill>
                <a:latin typeface="Chicalo"/>
                <a:ea typeface="Chicalo"/>
                <a:cs typeface="Chicalo"/>
                <a:sym typeface="Chicalo"/>
              </a:rPr>
              <a:t>Proposal Sponsor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611002"/>
            <a:ext cx="6048000" cy="6874254"/>
            <a:chOff x="0" y="0"/>
            <a:chExt cx="2167467" cy="2463577"/>
          </a:xfrm>
        </p:grpSpPr>
        <p:sp>
          <p:nvSpPr>
            <p:cNvPr name="Freeform 4" id="4"/>
            <p:cNvSpPr/>
            <p:nvPr/>
          </p:nvSpPr>
          <p:spPr>
            <a:xfrm flipH="false" flipV="false" rot="0">
              <a:off x="0" y="0"/>
              <a:ext cx="2167467" cy="2463577"/>
            </a:xfrm>
            <a:custGeom>
              <a:avLst/>
              <a:gdLst/>
              <a:ahLst/>
              <a:cxnLst/>
              <a:rect r="r" b="b" t="t" l="l"/>
              <a:pathLst>
                <a:path h="2463577" w="2167467">
                  <a:moveTo>
                    <a:pt x="47363" y="0"/>
                  </a:moveTo>
                  <a:lnTo>
                    <a:pt x="2120104" y="0"/>
                  </a:lnTo>
                  <a:cubicBezTo>
                    <a:pt x="2146262" y="0"/>
                    <a:pt x="2167467" y="21205"/>
                    <a:pt x="2167467" y="47363"/>
                  </a:cubicBezTo>
                  <a:lnTo>
                    <a:pt x="2167467" y="2416214"/>
                  </a:lnTo>
                  <a:cubicBezTo>
                    <a:pt x="2167467" y="2428776"/>
                    <a:pt x="2162477" y="2440823"/>
                    <a:pt x="2153595" y="2449705"/>
                  </a:cubicBezTo>
                  <a:cubicBezTo>
                    <a:pt x="2144712" y="2458587"/>
                    <a:pt x="2132665" y="2463577"/>
                    <a:pt x="2120104" y="2463577"/>
                  </a:cubicBezTo>
                  <a:lnTo>
                    <a:pt x="47363" y="2463577"/>
                  </a:lnTo>
                  <a:cubicBezTo>
                    <a:pt x="34802" y="2463577"/>
                    <a:pt x="22755" y="2458587"/>
                    <a:pt x="13872" y="2449705"/>
                  </a:cubicBezTo>
                  <a:cubicBezTo>
                    <a:pt x="4990" y="2440823"/>
                    <a:pt x="0" y="2428776"/>
                    <a:pt x="0" y="2416214"/>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492152"/>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118941" y="1073167"/>
            <a:ext cx="5322117"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latar belakang</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337504" y="2938596"/>
            <a:ext cx="4884992" cy="6341110"/>
          </a:xfrm>
          <a:prstGeom prst="rect">
            <a:avLst/>
          </a:prstGeom>
        </p:spPr>
        <p:txBody>
          <a:bodyPr anchor="t" rtlCol="false" tIns="0" lIns="0" bIns="0" rIns="0">
            <a:spAutoFit/>
          </a:bodyPr>
          <a:lstStyle/>
          <a:p>
            <a:pPr algn="just">
              <a:lnSpc>
                <a:spcPts val="2239"/>
              </a:lnSpc>
            </a:pPr>
            <a:r>
              <a:rPr lang="en-US" sz="1599">
                <a:solidFill>
                  <a:srgbClr val="000000"/>
                </a:solidFill>
                <a:latin typeface="Montserrat 2"/>
                <a:ea typeface="Montserrat 2"/>
                <a:cs typeface="Montserrat 2"/>
                <a:sym typeface="Montserrat 2"/>
              </a:rPr>
              <a:t>Industri film Indonesia telah mengalami perkembangan yang pesat. Ruang apresiasi film sebagai medium ekspresi, refleksi sosial, diskusi publik perlu kita dorong perluasannya, terutama untuk film-film pendek dan independen yang jarang mendapatkan tempat di layar komersial.</a:t>
            </a:r>
          </a:p>
          <a:p>
            <a:pPr algn="just">
              <a:lnSpc>
                <a:spcPts val="2239"/>
              </a:lnSpc>
            </a:pPr>
          </a:p>
          <a:p>
            <a:pPr algn="just">
              <a:lnSpc>
                <a:spcPts val="2239"/>
              </a:lnSpc>
            </a:pPr>
            <a:r>
              <a:rPr lang="en-US" sz="1599">
                <a:solidFill>
                  <a:srgbClr val="000000"/>
                </a:solidFill>
                <a:latin typeface="Montserrat 2"/>
                <a:ea typeface="Montserrat 2"/>
                <a:cs typeface="Montserrat 2"/>
                <a:sym typeface="Montserrat 2"/>
              </a:rPr>
              <a:t>Kronik Nonton Film diadakan sebagai ruang yang membuka akses kepada publik untuk menont</a:t>
            </a:r>
            <a:r>
              <a:rPr lang="en-US" sz="1599">
                <a:solidFill>
                  <a:srgbClr val="000000"/>
                </a:solidFill>
                <a:latin typeface="Montserrat 2"/>
                <a:ea typeface="Montserrat 2"/>
                <a:cs typeface="Montserrat 2"/>
                <a:sym typeface="Montserrat 2"/>
              </a:rPr>
              <a:t>on dan mengapresiasi ragam bentuk sinema yang tidak hanya menjadi ajang pemutaran, tetapi juga wadah dialog antara sineas, penonton, dan komunitas. </a:t>
            </a:r>
          </a:p>
          <a:p>
            <a:pPr algn="just">
              <a:lnSpc>
                <a:spcPts val="2239"/>
              </a:lnSpc>
            </a:pPr>
          </a:p>
          <a:p>
            <a:pPr algn="just">
              <a:lnSpc>
                <a:spcPts val="2239"/>
              </a:lnSpc>
            </a:pPr>
            <a:r>
              <a:rPr lang="en-US" sz="1599">
                <a:solidFill>
                  <a:srgbClr val="000000"/>
                </a:solidFill>
                <a:latin typeface="Montserrat 2"/>
                <a:ea typeface="Montserrat 2"/>
                <a:cs typeface="Montserrat 2"/>
                <a:sym typeface="Montserrat 2"/>
              </a:rPr>
              <a:t>Melalui dukungan berbagai pihak, termasuk sektor swasta dan brand yang peduli pada nilai edukasi, kreatifitas, dan ekspresi publik, "Kronik Nonton Film" ingin menjadikan pengalaman menonton sebagai pengalaman yang bermakna—bukan sekadar hiburan, melainkan juga ruang tumbuh bersama.</a:t>
            </a:r>
          </a:p>
          <a:p>
            <a:pPr algn="just">
              <a:lnSpc>
                <a:spcPts val="223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23378"/>
            <a:ext cx="6048000" cy="5277299"/>
            <a:chOff x="0" y="0"/>
            <a:chExt cx="2167467" cy="1891265"/>
          </a:xfrm>
        </p:grpSpPr>
        <p:sp>
          <p:nvSpPr>
            <p:cNvPr name="Freeform 4" id="4"/>
            <p:cNvSpPr/>
            <p:nvPr/>
          </p:nvSpPr>
          <p:spPr>
            <a:xfrm flipH="false" flipV="false" rot="0">
              <a:off x="0" y="0"/>
              <a:ext cx="2167467" cy="1891265"/>
            </a:xfrm>
            <a:custGeom>
              <a:avLst/>
              <a:gdLst/>
              <a:ahLst/>
              <a:cxnLst/>
              <a:rect r="r" b="b" t="t" l="l"/>
              <a:pathLst>
                <a:path h="1891265" w="2167467">
                  <a:moveTo>
                    <a:pt x="47363" y="0"/>
                  </a:moveTo>
                  <a:lnTo>
                    <a:pt x="2120104" y="0"/>
                  </a:lnTo>
                  <a:cubicBezTo>
                    <a:pt x="2146262" y="0"/>
                    <a:pt x="2167467" y="21205"/>
                    <a:pt x="2167467" y="47363"/>
                  </a:cubicBezTo>
                  <a:lnTo>
                    <a:pt x="2167467" y="1843902"/>
                  </a:lnTo>
                  <a:cubicBezTo>
                    <a:pt x="2167467" y="1856463"/>
                    <a:pt x="2162477" y="1868510"/>
                    <a:pt x="2153595" y="1877393"/>
                  </a:cubicBezTo>
                  <a:cubicBezTo>
                    <a:pt x="2144712" y="1886275"/>
                    <a:pt x="2132665" y="1891265"/>
                    <a:pt x="2120104" y="1891265"/>
                  </a:cubicBezTo>
                  <a:lnTo>
                    <a:pt x="47363" y="1891265"/>
                  </a:lnTo>
                  <a:cubicBezTo>
                    <a:pt x="21205" y="1891265"/>
                    <a:pt x="0" y="1870060"/>
                    <a:pt x="0" y="1843902"/>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919840"/>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07495" y="791313"/>
            <a:ext cx="2945011"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BENTUK </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307495" y="3106070"/>
            <a:ext cx="2850579" cy="497839"/>
          </a:xfrm>
          <a:prstGeom prst="rect">
            <a:avLst/>
          </a:prstGeom>
        </p:spPr>
        <p:txBody>
          <a:bodyPr anchor="t" rtlCol="false" tIns="0" lIns="0" bIns="0" rIns="0">
            <a:spAutoFit/>
          </a:bodyPr>
          <a:lstStyle/>
          <a:p>
            <a:pPr algn="ctr">
              <a:lnSpc>
                <a:spcPts val="4060"/>
              </a:lnSpc>
            </a:pPr>
            <a:r>
              <a:rPr lang="en-US" sz="2900">
                <a:solidFill>
                  <a:srgbClr val="FCFCFC"/>
                </a:solidFill>
                <a:latin typeface="Chicalo"/>
                <a:ea typeface="Chicalo"/>
                <a:cs typeface="Chicalo"/>
                <a:sym typeface="Chicalo"/>
              </a:rPr>
              <a:t>SCREENING FILM</a:t>
            </a:r>
          </a:p>
        </p:txBody>
      </p:sp>
      <p:sp>
        <p:nvSpPr>
          <p:cNvPr name="TextBox 11" id="11"/>
          <p:cNvSpPr txBox="true"/>
          <p:nvPr/>
        </p:nvSpPr>
        <p:spPr>
          <a:xfrm rot="0">
            <a:off x="3008029" y="5068505"/>
            <a:ext cx="1449735" cy="497839"/>
          </a:xfrm>
          <a:prstGeom prst="rect">
            <a:avLst/>
          </a:prstGeom>
        </p:spPr>
        <p:txBody>
          <a:bodyPr anchor="t" rtlCol="false" tIns="0" lIns="0" bIns="0" rIns="0">
            <a:spAutoFit/>
          </a:bodyPr>
          <a:lstStyle/>
          <a:p>
            <a:pPr algn="ctr">
              <a:lnSpc>
                <a:spcPts val="4060"/>
              </a:lnSpc>
            </a:pPr>
            <a:r>
              <a:rPr lang="en-US" sz="2900">
                <a:solidFill>
                  <a:srgbClr val="FCFCFC"/>
                </a:solidFill>
                <a:latin typeface="Chicalo"/>
                <a:ea typeface="Chicalo"/>
                <a:cs typeface="Chicalo"/>
                <a:sym typeface="Chicalo"/>
              </a:rPr>
              <a:t>DISKUSI</a:t>
            </a:r>
          </a:p>
        </p:txBody>
      </p:sp>
      <p:sp>
        <p:nvSpPr>
          <p:cNvPr name="TextBox 12" id="12"/>
          <p:cNvSpPr txBox="true"/>
          <p:nvPr/>
        </p:nvSpPr>
        <p:spPr>
          <a:xfrm rot="0">
            <a:off x="1058466" y="3809346"/>
            <a:ext cx="5348860" cy="1399101"/>
          </a:xfrm>
          <a:prstGeom prst="rect">
            <a:avLst/>
          </a:prstGeom>
        </p:spPr>
        <p:txBody>
          <a:bodyPr anchor="t" rtlCol="false" tIns="0" lIns="0" bIns="0" rIns="0">
            <a:spAutoFit/>
          </a:bodyPr>
          <a:lstStyle/>
          <a:p>
            <a:pPr algn="just">
              <a:lnSpc>
                <a:spcPts val="2259"/>
              </a:lnSpc>
              <a:spcBef>
                <a:spcPct val="0"/>
              </a:spcBef>
            </a:pPr>
            <a:r>
              <a:rPr lang="en-US" sz="1982">
                <a:solidFill>
                  <a:srgbClr val="000000"/>
                </a:solidFill>
                <a:latin typeface="Montserrat 1"/>
                <a:ea typeface="Montserrat 1"/>
                <a:cs typeface="Montserrat 1"/>
                <a:sym typeface="Montserrat 1"/>
              </a:rPr>
              <a:t>3 film pendek akan diputar saat pre event dan 15 film</a:t>
            </a:r>
            <a:r>
              <a:rPr lang="en-US" sz="1982">
                <a:solidFill>
                  <a:srgbClr val="000000"/>
                </a:solidFill>
                <a:latin typeface="Montserrat 1"/>
                <a:ea typeface="Montserrat 1"/>
                <a:cs typeface="Montserrat 1"/>
                <a:sym typeface="Montserrat 1"/>
              </a:rPr>
              <a:t> pendek akan diputar dalam empat sesi berbeda  saat main event. Setiap sesi terdiri dari screening dan diskusi.</a:t>
            </a:r>
          </a:p>
        </p:txBody>
      </p:sp>
      <p:sp>
        <p:nvSpPr>
          <p:cNvPr name="TextBox 13" id="13"/>
          <p:cNvSpPr txBox="true"/>
          <p:nvPr/>
        </p:nvSpPr>
        <p:spPr>
          <a:xfrm rot="0">
            <a:off x="1163543" y="5666303"/>
            <a:ext cx="5232914" cy="2145309"/>
          </a:xfrm>
          <a:prstGeom prst="rect">
            <a:avLst/>
          </a:prstGeom>
        </p:spPr>
        <p:txBody>
          <a:bodyPr anchor="t" rtlCol="false" tIns="0" lIns="0" bIns="0" rIns="0">
            <a:spAutoFit/>
          </a:bodyPr>
          <a:lstStyle/>
          <a:p>
            <a:pPr algn="just">
              <a:lnSpc>
                <a:spcPts val="2169"/>
              </a:lnSpc>
              <a:spcBef>
                <a:spcPct val="0"/>
              </a:spcBef>
            </a:pPr>
            <a:r>
              <a:rPr lang="en-US" sz="1902">
                <a:solidFill>
                  <a:srgbClr val="000000"/>
                </a:solidFill>
                <a:latin typeface="Montserrat 1"/>
                <a:ea typeface="Montserrat 1"/>
                <a:cs typeface="Montserrat 1"/>
                <a:sym typeface="Montserrat 1"/>
              </a:rPr>
              <a:t>Se</a:t>
            </a:r>
            <a:r>
              <a:rPr lang="en-US" sz="1902">
                <a:solidFill>
                  <a:srgbClr val="000000"/>
                </a:solidFill>
                <a:latin typeface="Montserrat 1"/>
                <a:ea typeface="Montserrat 1"/>
                <a:cs typeface="Montserrat 1"/>
                <a:sym typeface="Montserrat 1"/>
              </a:rPr>
              <a:t>tiap sesi Screening Film tidak hanya berhenti pada pemutaran karya, tetapi akan dilanjutkan dengan sesi Diskusi yang interaktif. Sesi ini dirancang sebagai jembatan untuk menghubungkan visi kreator dengan persepsi penonton, serta membedah elemen-elemen sinematik dan konteks sosial yang ada di dalam film.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695760"/>
            <a:ext cx="6048000" cy="4668493"/>
            <a:chOff x="0" y="0"/>
            <a:chExt cx="2167467" cy="1673083"/>
          </a:xfrm>
        </p:grpSpPr>
        <p:sp>
          <p:nvSpPr>
            <p:cNvPr name="Freeform 4" id="4"/>
            <p:cNvSpPr/>
            <p:nvPr/>
          </p:nvSpPr>
          <p:spPr>
            <a:xfrm flipH="false" flipV="false" rot="0">
              <a:off x="0" y="0"/>
              <a:ext cx="2167467" cy="1673083"/>
            </a:xfrm>
            <a:custGeom>
              <a:avLst/>
              <a:gdLst/>
              <a:ahLst/>
              <a:cxnLst/>
              <a:rect r="r" b="b" t="t" l="l"/>
              <a:pathLst>
                <a:path h="1673083" w="2167467">
                  <a:moveTo>
                    <a:pt x="47363" y="0"/>
                  </a:moveTo>
                  <a:lnTo>
                    <a:pt x="2120104" y="0"/>
                  </a:lnTo>
                  <a:cubicBezTo>
                    <a:pt x="2146262" y="0"/>
                    <a:pt x="2167467" y="21205"/>
                    <a:pt x="2167467" y="47363"/>
                  </a:cubicBezTo>
                  <a:lnTo>
                    <a:pt x="2167467" y="1625720"/>
                  </a:lnTo>
                  <a:cubicBezTo>
                    <a:pt x="2167467" y="1638281"/>
                    <a:pt x="2162477" y="1650328"/>
                    <a:pt x="2153595" y="1659210"/>
                  </a:cubicBezTo>
                  <a:cubicBezTo>
                    <a:pt x="2144712" y="1668093"/>
                    <a:pt x="2132665" y="1673083"/>
                    <a:pt x="2120104" y="1673083"/>
                  </a:cubicBezTo>
                  <a:lnTo>
                    <a:pt x="47363" y="1673083"/>
                  </a:lnTo>
                  <a:cubicBezTo>
                    <a:pt x="21205" y="1673083"/>
                    <a:pt x="0" y="1651877"/>
                    <a:pt x="0" y="1625720"/>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701658"/>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421729" y="889508"/>
            <a:ext cx="4716542"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TEMA 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369530" y="1701038"/>
            <a:ext cx="4820939" cy="478917"/>
          </a:xfrm>
          <a:prstGeom prst="rect">
            <a:avLst/>
          </a:prstGeom>
        </p:spPr>
        <p:txBody>
          <a:bodyPr anchor="t" rtlCol="false" tIns="0" lIns="0" bIns="0" rIns="0">
            <a:spAutoFit/>
          </a:bodyPr>
          <a:lstStyle/>
          <a:p>
            <a:pPr algn="ctr">
              <a:lnSpc>
                <a:spcPts val="1823"/>
              </a:lnSpc>
              <a:spcBef>
                <a:spcPct val="0"/>
              </a:spcBef>
            </a:pPr>
            <a:r>
              <a:rPr lang="en-US" sz="1599">
                <a:solidFill>
                  <a:srgbClr val="FCFCFC"/>
                </a:solidFill>
                <a:latin typeface="Chicalo"/>
                <a:ea typeface="Chicalo"/>
                <a:cs typeface="Chicalo"/>
                <a:sym typeface="Chicalo"/>
              </a:rPr>
              <a:t>"Beyond the Spectrum: Unsur Kebebasan Merealisasikan Pikiran Abstrak"</a:t>
            </a:r>
          </a:p>
        </p:txBody>
      </p:sp>
      <p:sp>
        <p:nvSpPr>
          <p:cNvPr name="TextBox 11" id="11"/>
          <p:cNvSpPr txBox="true"/>
          <p:nvPr/>
        </p:nvSpPr>
        <p:spPr>
          <a:xfrm rot="0">
            <a:off x="1153747" y="3336012"/>
            <a:ext cx="5252505" cy="1831467"/>
          </a:xfrm>
          <a:prstGeom prst="rect">
            <a:avLst/>
          </a:prstGeom>
        </p:spPr>
        <p:txBody>
          <a:bodyPr anchor="t" rtlCol="false" tIns="0" lIns="0" bIns="0" rIns="0">
            <a:spAutoFit/>
          </a:bodyPr>
          <a:lstStyle/>
          <a:p>
            <a:pPr algn="just">
              <a:lnSpc>
                <a:spcPts val="1823"/>
              </a:lnSpc>
              <a:spcBef>
                <a:spcPct val="0"/>
              </a:spcBef>
            </a:pPr>
            <a:r>
              <a:rPr lang="en-US" sz="1599">
                <a:solidFill>
                  <a:srgbClr val="000000"/>
                </a:solidFill>
                <a:latin typeface="Montserrat 1"/>
                <a:ea typeface="Montserrat 1"/>
                <a:cs typeface="Montserrat 1"/>
                <a:sym typeface="Montserrat 1"/>
              </a:rPr>
              <a:t>"Beyond the Spectrum” adalah sebuah ajakan untuk membebaskan diri dari garis-garis batas yang membelenggu ekspresi. Di dunia yang sering kali hanya memvalidasi yang logis, rasional, dan terstruktur, tema ini membuka ruang bagi mereka yang memilih untuk bermimpi liar, membayangkan yang tidak masuk akal, dan menciptakan dari ketidakterbatasan.</a:t>
            </a:r>
          </a:p>
        </p:txBody>
      </p:sp>
      <p:sp>
        <p:nvSpPr>
          <p:cNvPr name="TextBox 12" id="12"/>
          <p:cNvSpPr txBox="true"/>
          <p:nvPr/>
        </p:nvSpPr>
        <p:spPr>
          <a:xfrm rot="0">
            <a:off x="1153747" y="5355525"/>
            <a:ext cx="5252505" cy="1374267"/>
          </a:xfrm>
          <a:prstGeom prst="rect">
            <a:avLst/>
          </a:prstGeom>
        </p:spPr>
        <p:txBody>
          <a:bodyPr anchor="t" rtlCol="false" tIns="0" lIns="0" bIns="0" rIns="0">
            <a:spAutoFit/>
          </a:bodyPr>
          <a:lstStyle/>
          <a:p>
            <a:pPr algn="just">
              <a:lnSpc>
                <a:spcPts val="1823"/>
              </a:lnSpc>
              <a:spcBef>
                <a:spcPct val="0"/>
              </a:spcBef>
            </a:pPr>
            <a:r>
              <a:rPr lang="en-US" sz="1599">
                <a:solidFill>
                  <a:srgbClr val="000000"/>
                </a:solidFill>
                <a:latin typeface="Montserrat 1"/>
                <a:ea typeface="Montserrat 1"/>
                <a:cs typeface="Montserrat 1"/>
                <a:sym typeface="Montserrat 1"/>
              </a:rPr>
              <a:t>Kreativitas sejati lahir dari keberanian untuk mewujudkan pikiran-pikiran abstrak, yang bagi sebagian mungkin tak dimengerti. Di sinilah letak keajaiban, saat gagasan absurd menjadi kenyataan, dan hal yang dulu hanya tinggal di benak akhirnya mendapat bentuk, warna, dan suara.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623721" y="2935919"/>
            <a:ext cx="6048000" cy="4605084"/>
            <a:chOff x="0" y="0"/>
            <a:chExt cx="2167467" cy="1650358"/>
          </a:xfrm>
        </p:grpSpPr>
        <p:sp>
          <p:nvSpPr>
            <p:cNvPr name="Freeform 4" id="4"/>
            <p:cNvSpPr/>
            <p:nvPr/>
          </p:nvSpPr>
          <p:spPr>
            <a:xfrm flipH="false" flipV="false" rot="0">
              <a:off x="0" y="0"/>
              <a:ext cx="2167467" cy="1650358"/>
            </a:xfrm>
            <a:custGeom>
              <a:avLst/>
              <a:gdLst/>
              <a:ahLst/>
              <a:cxnLst/>
              <a:rect r="r" b="b" t="t" l="l"/>
              <a:pathLst>
                <a:path h="1650358" w="2167467">
                  <a:moveTo>
                    <a:pt x="47363" y="0"/>
                  </a:moveTo>
                  <a:lnTo>
                    <a:pt x="2120104" y="0"/>
                  </a:lnTo>
                  <a:cubicBezTo>
                    <a:pt x="2146262" y="0"/>
                    <a:pt x="2167467" y="21205"/>
                    <a:pt x="2167467" y="47363"/>
                  </a:cubicBezTo>
                  <a:lnTo>
                    <a:pt x="2167467" y="1602995"/>
                  </a:lnTo>
                  <a:cubicBezTo>
                    <a:pt x="2167467" y="1615557"/>
                    <a:pt x="2162477" y="1627604"/>
                    <a:pt x="2153595" y="1636486"/>
                  </a:cubicBezTo>
                  <a:cubicBezTo>
                    <a:pt x="2144712" y="1645368"/>
                    <a:pt x="2132665" y="1650358"/>
                    <a:pt x="2120104" y="1650358"/>
                  </a:cubicBezTo>
                  <a:lnTo>
                    <a:pt x="47363" y="1650358"/>
                  </a:lnTo>
                  <a:cubicBezTo>
                    <a:pt x="21205" y="1650358"/>
                    <a:pt x="0" y="1629153"/>
                    <a:pt x="0" y="16029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6789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37379" y="889508"/>
            <a:ext cx="2885242"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tujuan </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21469" y="3798835"/>
            <a:ext cx="5252505" cy="2622804"/>
          </a:xfrm>
          <a:prstGeom prst="rect">
            <a:avLst/>
          </a:prstGeom>
        </p:spPr>
        <p:txBody>
          <a:bodyPr anchor="t" rtlCol="false" tIns="0" lIns="0" bIns="0" rIns="0">
            <a:spAutoFit/>
          </a:bodyPr>
          <a:lstStyle/>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a:t>
            </a:r>
            <a:r>
              <a:rPr lang="en-US" sz="1699">
                <a:solidFill>
                  <a:srgbClr val="000000"/>
                </a:solidFill>
                <a:latin typeface="Montserrat 1"/>
                <a:ea typeface="Montserrat 1"/>
                <a:cs typeface="Montserrat 1"/>
                <a:sym typeface="Montserrat 1"/>
              </a:rPr>
              <a:t>enjadi salah satu event screening film pendek yang aktif di Semarang.</a:t>
            </a:r>
          </a:p>
          <a:p>
            <a:pPr algn="just">
              <a:lnSpc>
                <a:spcPts val="1937"/>
              </a:lnSpc>
              <a:spcBef>
                <a:spcPct val="0"/>
              </a:spcBef>
            </a:pP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Mengangkat nama dan kontribusi komunitas Kronik Filmedia dalam ruang seni dan budaya khususnya bidang perfilman.</a:t>
            </a:r>
          </a:p>
          <a:p>
            <a:pPr algn="just">
              <a:lnSpc>
                <a:spcPts val="1937"/>
              </a:lnSpc>
              <a:spcBef>
                <a:spcPct val="0"/>
              </a:spcBef>
            </a:pP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Menjadi ajang pertukaran gagasan antara sineas muda, kurator, dan masyarakat umum.</a:t>
            </a:r>
          </a:p>
          <a:p>
            <a:pPr algn="just">
              <a:lnSpc>
                <a:spcPts val="193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36196"/>
            <a:ext cx="7636636" cy="13571631"/>
          </a:xfrm>
          <a:custGeom>
            <a:avLst/>
            <a:gdLst/>
            <a:ahLst/>
            <a:cxnLst/>
            <a:rect r="r" b="b" t="t" l="l"/>
            <a:pathLst>
              <a:path h="13571631" w="7636636">
                <a:moveTo>
                  <a:pt x="0" y="0"/>
                </a:moveTo>
                <a:lnTo>
                  <a:pt x="7636636" y="0"/>
                </a:lnTo>
                <a:lnTo>
                  <a:pt x="7636636" y="13571631"/>
                </a:lnTo>
                <a:lnTo>
                  <a:pt x="0" y="13571631"/>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3014475"/>
            <a:ext cx="6048000" cy="3387471"/>
            <a:chOff x="0" y="0"/>
            <a:chExt cx="2167467" cy="1213993"/>
          </a:xfrm>
        </p:grpSpPr>
        <p:sp>
          <p:nvSpPr>
            <p:cNvPr name="Freeform 4" id="4"/>
            <p:cNvSpPr/>
            <p:nvPr/>
          </p:nvSpPr>
          <p:spPr>
            <a:xfrm flipH="false" flipV="false" rot="0">
              <a:off x="0" y="0"/>
              <a:ext cx="2167467" cy="1213993"/>
            </a:xfrm>
            <a:custGeom>
              <a:avLst/>
              <a:gdLst/>
              <a:ahLst/>
              <a:cxnLst/>
              <a:rect r="r" b="b" t="t" l="l"/>
              <a:pathLst>
                <a:path h="1213993" w="2167467">
                  <a:moveTo>
                    <a:pt x="47363" y="0"/>
                  </a:moveTo>
                  <a:lnTo>
                    <a:pt x="2120104" y="0"/>
                  </a:lnTo>
                  <a:cubicBezTo>
                    <a:pt x="2146262" y="0"/>
                    <a:pt x="2167467" y="21205"/>
                    <a:pt x="2167467" y="47363"/>
                  </a:cubicBezTo>
                  <a:lnTo>
                    <a:pt x="2167467" y="1166630"/>
                  </a:lnTo>
                  <a:cubicBezTo>
                    <a:pt x="2167467" y="1179192"/>
                    <a:pt x="2162477" y="1191239"/>
                    <a:pt x="2153595" y="1200121"/>
                  </a:cubicBezTo>
                  <a:cubicBezTo>
                    <a:pt x="2144712" y="1209003"/>
                    <a:pt x="2132665" y="1213993"/>
                    <a:pt x="2120104" y="1213993"/>
                  </a:cubicBezTo>
                  <a:lnTo>
                    <a:pt x="47363" y="1213993"/>
                  </a:lnTo>
                  <a:cubicBezTo>
                    <a:pt x="21205" y="1213993"/>
                    <a:pt x="0" y="1192788"/>
                    <a:pt x="0" y="1166630"/>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1242568"/>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9" id="9"/>
          <p:cNvSpPr/>
          <p:nvPr/>
        </p:nvSpPr>
        <p:spPr>
          <a:xfrm flipH="false" flipV="false" rot="0">
            <a:off x="2184333" y="3368149"/>
            <a:ext cx="3024000" cy="1852200"/>
          </a:xfrm>
          <a:custGeom>
            <a:avLst/>
            <a:gdLst/>
            <a:ahLst/>
            <a:cxnLst/>
            <a:rect r="r" b="b" t="t" l="l"/>
            <a:pathLst>
              <a:path h="1852200" w="3024000">
                <a:moveTo>
                  <a:pt x="0" y="0"/>
                </a:moveTo>
                <a:lnTo>
                  <a:pt x="3024000" y="0"/>
                </a:lnTo>
                <a:lnTo>
                  <a:pt x="3024000" y="1852200"/>
                </a:lnTo>
                <a:lnTo>
                  <a:pt x="0" y="18522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10" id="10"/>
          <p:cNvSpPr txBox="true"/>
          <p:nvPr/>
        </p:nvSpPr>
        <p:spPr>
          <a:xfrm rot="0">
            <a:off x="2535610" y="5355525"/>
            <a:ext cx="2488780" cy="241554"/>
          </a:xfrm>
          <a:prstGeom prst="rect">
            <a:avLst/>
          </a:prstGeom>
        </p:spPr>
        <p:txBody>
          <a:bodyPr anchor="t" rtlCol="false" tIns="0" lIns="0" bIns="0" rIns="0">
            <a:spAutoFit/>
          </a:bodyPr>
          <a:lstStyle/>
          <a:p>
            <a:pPr algn="just">
              <a:lnSpc>
                <a:spcPts val="1937"/>
              </a:lnSpc>
              <a:spcBef>
                <a:spcPct val="0"/>
              </a:spcBef>
            </a:pPr>
            <a:r>
              <a:rPr lang="en-US" sz="1699">
                <a:solidFill>
                  <a:srgbClr val="000000"/>
                </a:solidFill>
                <a:latin typeface="Montserrat 1"/>
                <a:ea typeface="Montserrat 1"/>
                <a:cs typeface="Montserrat 1"/>
                <a:sym typeface="Montserrat 1"/>
              </a:rPr>
              <a:t>Pelajar dan Mahasiswa</a:t>
            </a:r>
          </a:p>
        </p:txBody>
      </p:sp>
      <p:sp>
        <p:nvSpPr>
          <p:cNvPr name="TextBox 11" id="11"/>
          <p:cNvSpPr txBox="true"/>
          <p:nvPr/>
        </p:nvSpPr>
        <p:spPr>
          <a:xfrm rot="0">
            <a:off x="2351667" y="889508"/>
            <a:ext cx="2856667"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target </a:t>
            </a:r>
          </a:p>
          <a:p>
            <a:pPr algn="ctr">
              <a:lnSpc>
                <a:spcPts val="6719"/>
              </a:lnSpc>
            </a:pPr>
            <a:r>
              <a:rPr lang="en-US" sz="4800">
                <a:solidFill>
                  <a:srgbClr val="FAFAFA"/>
                </a:solidFill>
                <a:latin typeface="Chicalo"/>
                <a:ea typeface="Chicalo"/>
                <a:cs typeface="Chicalo"/>
                <a:sym typeface="Chicalo"/>
              </a:rPr>
              <a:t>audience</a:t>
            </a:r>
          </a:p>
        </p:txBody>
      </p:sp>
      <p:sp>
        <p:nvSpPr>
          <p:cNvPr name="TextBox 12" id="12"/>
          <p:cNvSpPr txBox="true"/>
          <p:nvPr/>
        </p:nvSpPr>
        <p:spPr>
          <a:xfrm rot="0">
            <a:off x="2535610" y="5606604"/>
            <a:ext cx="2488780" cy="241554"/>
          </a:xfrm>
          <a:prstGeom prst="rect">
            <a:avLst/>
          </a:prstGeom>
        </p:spPr>
        <p:txBody>
          <a:bodyPr anchor="t" rtlCol="false" tIns="0" lIns="0" bIns="0" rIns="0">
            <a:spAutoFit/>
          </a:bodyPr>
          <a:lstStyle/>
          <a:p>
            <a:pPr algn="ctr">
              <a:lnSpc>
                <a:spcPts val="1937"/>
              </a:lnSpc>
              <a:spcBef>
                <a:spcPct val="0"/>
              </a:spcBef>
            </a:pPr>
            <a:r>
              <a:rPr lang="en-US" sz="1699">
                <a:solidFill>
                  <a:srgbClr val="000000"/>
                </a:solidFill>
                <a:latin typeface="Montserrat 1"/>
                <a:ea typeface="Montserrat 1"/>
                <a:cs typeface="Montserrat 1"/>
                <a:sym typeface="Montserrat 1"/>
              </a:rPr>
              <a:t>+- 300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36196"/>
            <a:ext cx="7636636" cy="13571631"/>
          </a:xfrm>
          <a:custGeom>
            <a:avLst/>
            <a:gdLst/>
            <a:ahLst/>
            <a:cxnLst/>
            <a:rect r="r" b="b" t="t" l="l"/>
            <a:pathLst>
              <a:path h="13571631" w="7636636">
                <a:moveTo>
                  <a:pt x="0" y="0"/>
                </a:moveTo>
                <a:lnTo>
                  <a:pt x="7636636" y="0"/>
                </a:lnTo>
                <a:lnTo>
                  <a:pt x="7636636" y="13571631"/>
                </a:lnTo>
                <a:lnTo>
                  <a:pt x="0" y="13571631"/>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1494059" y="3014475"/>
            <a:ext cx="4462988" cy="1125912"/>
            <a:chOff x="0" y="0"/>
            <a:chExt cx="1599434" cy="403501"/>
          </a:xfrm>
        </p:grpSpPr>
        <p:sp>
          <p:nvSpPr>
            <p:cNvPr name="Freeform 4" id="4"/>
            <p:cNvSpPr/>
            <p:nvPr/>
          </p:nvSpPr>
          <p:spPr>
            <a:xfrm flipH="false" flipV="false" rot="0">
              <a:off x="0" y="0"/>
              <a:ext cx="1599434" cy="403501"/>
            </a:xfrm>
            <a:custGeom>
              <a:avLst/>
              <a:gdLst/>
              <a:ahLst/>
              <a:cxnLst/>
              <a:rect r="r" b="b" t="t" l="l"/>
              <a:pathLst>
                <a:path h="403501" w="1599434">
                  <a:moveTo>
                    <a:pt x="64184" y="0"/>
                  </a:moveTo>
                  <a:lnTo>
                    <a:pt x="1535250" y="0"/>
                  </a:lnTo>
                  <a:cubicBezTo>
                    <a:pt x="1552273" y="0"/>
                    <a:pt x="1568598" y="6762"/>
                    <a:pt x="1580635" y="18799"/>
                  </a:cubicBezTo>
                  <a:cubicBezTo>
                    <a:pt x="1592672" y="30836"/>
                    <a:pt x="1599434" y="47161"/>
                    <a:pt x="1599434" y="64184"/>
                  </a:cubicBezTo>
                  <a:lnTo>
                    <a:pt x="1599434" y="339318"/>
                  </a:lnTo>
                  <a:cubicBezTo>
                    <a:pt x="1599434" y="356340"/>
                    <a:pt x="1592672" y="372666"/>
                    <a:pt x="1580635" y="384702"/>
                  </a:cubicBezTo>
                  <a:cubicBezTo>
                    <a:pt x="1568598" y="396739"/>
                    <a:pt x="1552273" y="403501"/>
                    <a:pt x="1535250" y="403501"/>
                  </a:cubicBezTo>
                  <a:lnTo>
                    <a:pt x="64184" y="403501"/>
                  </a:lnTo>
                  <a:cubicBezTo>
                    <a:pt x="47161" y="403501"/>
                    <a:pt x="30836" y="396739"/>
                    <a:pt x="18799" y="384702"/>
                  </a:cubicBezTo>
                  <a:cubicBezTo>
                    <a:pt x="6762" y="372666"/>
                    <a:pt x="0" y="356340"/>
                    <a:pt x="0" y="339318"/>
                  </a:cubicBezTo>
                  <a:lnTo>
                    <a:pt x="0" y="64184"/>
                  </a:lnTo>
                  <a:cubicBezTo>
                    <a:pt x="0" y="47161"/>
                    <a:pt x="6762" y="30836"/>
                    <a:pt x="18799" y="18799"/>
                  </a:cubicBezTo>
                  <a:cubicBezTo>
                    <a:pt x="30836" y="6762"/>
                    <a:pt x="47161" y="0"/>
                    <a:pt x="64184" y="0"/>
                  </a:cubicBezTo>
                  <a:close/>
                </a:path>
              </a:pathLst>
            </a:custGeom>
            <a:solidFill>
              <a:srgbClr val="FAFAFA">
                <a:alpha val="50980"/>
              </a:srgbClr>
            </a:solidFill>
          </p:spPr>
        </p:sp>
        <p:sp>
          <p:nvSpPr>
            <p:cNvPr name="TextBox 5" id="5"/>
            <p:cNvSpPr txBox="true"/>
            <p:nvPr/>
          </p:nvSpPr>
          <p:spPr>
            <a:xfrm>
              <a:off x="0" y="-28575"/>
              <a:ext cx="1599434" cy="432076"/>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9" id="9"/>
          <p:cNvSpPr txBox="true"/>
          <p:nvPr/>
        </p:nvSpPr>
        <p:spPr>
          <a:xfrm rot="0">
            <a:off x="1818455" y="3223291"/>
            <a:ext cx="3999725" cy="717804"/>
          </a:xfrm>
          <a:prstGeom prst="rect">
            <a:avLst/>
          </a:prstGeom>
        </p:spPr>
        <p:txBody>
          <a:bodyPr anchor="t" rtlCol="false" tIns="0" lIns="0" bIns="0" rIns="0">
            <a:spAutoFit/>
          </a:bodyPr>
          <a:lstStyle/>
          <a:p>
            <a:pPr algn="just">
              <a:lnSpc>
                <a:spcPts val="1937"/>
              </a:lnSpc>
            </a:pPr>
            <a:r>
              <a:rPr lang="en-US" sz="1699">
                <a:solidFill>
                  <a:srgbClr val="000000"/>
                </a:solidFill>
                <a:latin typeface="Montserrat 1"/>
                <a:ea typeface="Montserrat 1"/>
                <a:cs typeface="Montserrat 1"/>
                <a:sym typeface="Montserrat 1"/>
              </a:rPr>
              <a:t>Hari/Tanggal: Sabtu, 11 Oktober 2025</a:t>
            </a:r>
          </a:p>
          <a:p>
            <a:pPr algn="just">
              <a:lnSpc>
                <a:spcPts val="1937"/>
              </a:lnSpc>
            </a:pPr>
            <a:r>
              <a:rPr lang="en-US" sz="1699">
                <a:solidFill>
                  <a:srgbClr val="000000"/>
                </a:solidFill>
                <a:latin typeface="Montserrat 1"/>
                <a:ea typeface="Montserrat 1"/>
                <a:cs typeface="Montserrat 1"/>
                <a:sym typeface="Montserrat 1"/>
              </a:rPr>
              <a:t>Pukul: 10.00 - 21:00</a:t>
            </a:r>
          </a:p>
          <a:p>
            <a:pPr algn="just">
              <a:lnSpc>
                <a:spcPts val="1937"/>
              </a:lnSpc>
              <a:spcBef>
                <a:spcPct val="0"/>
              </a:spcBef>
            </a:pPr>
            <a:r>
              <a:rPr lang="en-US" sz="1699">
                <a:solidFill>
                  <a:srgbClr val="000000"/>
                </a:solidFill>
                <a:latin typeface="Montserrat 1"/>
                <a:ea typeface="Montserrat 1"/>
                <a:cs typeface="Montserrat 1"/>
                <a:sym typeface="Montserrat 1"/>
              </a:rPr>
              <a:t>Tempat: Balai Kota Semarang </a:t>
            </a:r>
          </a:p>
        </p:txBody>
      </p:sp>
      <p:sp>
        <p:nvSpPr>
          <p:cNvPr name="TextBox 10" id="10"/>
          <p:cNvSpPr txBox="true"/>
          <p:nvPr/>
        </p:nvSpPr>
        <p:spPr>
          <a:xfrm rot="0">
            <a:off x="1024665" y="889508"/>
            <a:ext cx="5510670"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Jadwal pelaksanaan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798447"/>
            <a:ext cx="6048000" cy="6686809"/>
            <a:chOff x="0" y="0"/>
            <a:chExt cx="2167467" cy="2396401"/>
          </a:xfrm>
        </p:grpSpPr>
        <p:sp>
          <p:nvSpPr>
            <p:cNvPr name="Freeform 4" id="4"/>
            <p:cNvSpPr/>
            <p:nvPr/>
          </p:nvSpPr>
          <p:spPr>
            <a:xfrm flipH="false" flipV="false" rot="0">
              <a:off x="0" y="0"/>
              <a:ext cx="2167467" cy="2396401"/>
            </a:xfrm>
            <a:custGeom>
              <a:avLst/>
              <a:gdLst/>
              <a:ahLst/>
              <a:cxnLst/>
              <a:rect r="r" b="b" t="t" l="l"/>
              <a:pathLst>
                <a:path h="2396401" w="2167467">
                  <a:moveTo>
                    <a:pt x="47363" y="0"/>
                  </a:moveTo>
                  <a:lnTo>
                    <a:pt x="2120104" y="0"/>
                  </a:lnTo>
                  <a:cubicBezTo>
                    <a:pt x="2146262" y="0"/>
                    <a:pt x="2167467" y="21205"/>
                    <a:pt x="2167467" y="47363"/>
                  </a:cubicBezTo>
                  <a:lnTo>
                    <a:pt x="2167467" y="2349038"/>
                  </a:lnTo>
                  <a:cubicBezTo>
                    <a:pt x="2167467" y="2361600"/>
                    <a:pt x="2162477" y="2373647"/>
                    <a:pt x="2153595" y="2382529"/>
                  </a:cubicBezTo>
                  <a:cubicBezTo>
                    <a:pt x="2144712" y="2391411"/>
                    <a:pt x="2132665" y="2396401"/>
                    <a:pt x="2120104" y="2396401"/>
                  </a:cubicBezTo>
                  <a:lnTo>
                    <a:pt x="47363" y="2396401"/>
                  </a:lnTo>
                  <a:cubicBezTo>
                    <a:pt x="34802" y="2396401"/>
                    <a:pt x="22755" y="2391411"/>
                    <a:pt x="13872" y="2382529"/>
                  </a:cubicBezTo>
                  <a:cubicBezTo>
                    <a:pt x="4990" y="2373647"/>
                    <a:pt x="0" y="2361600"/>
                    <a:pt x="0" y="2349038"/>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424976"/>
            </a:xfrm>
            <a:prstGeom prst="rect">
              <a:avLst/>
            </a:prstGeom>
          </p:spPr>
          <p:txBody>
            <a:bodyPr anchor="ctr" rtlCol="false" tIns="50800" lIns="50800" bIns="50800" rIns="50800"/>
            <a:lstStyle/>
            <a:p>
              <a:pPr algn="ctr">
                <a:lnSpc>
                  <a:spcPts val="1960"/>
                </a:lnSpc>
              </a:pPr>
            </a:p>
          </p:txBody>
        </p:sp>
      </p:grpSp>
      <p:grpSp>
        <p:nvGrpSpPr>
          <p:cNvPr name="Group 6" id="6"/>
          <p:cNvGrpSpPr/>
          <p:nvPr/>
        </p:nvGrpSpPr>
        <p:grpSpPr>
          <a:xfrm rot="0">
            <a:off x="623721" y="9685964"/>
            <a:ext cx="6312557" cy="500072"/>
            <a:chOff x="0" y="0"/>
            <a:chExt cx="8416743" cy="666763"/>
          </a:xfrm>
        </p:grpSpPr>
        <p:sp>
          <p:nvSpPr>
            <p:cNvPr name="Freeform 7" id="7"/>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8" id="8"/>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9" id="9"/>
          <p:cNvSpPr/>
          <p:nvPr/>
        </p:nvSpPr>
        <p:spPr>
          <a:xfrm flipH="false" flipV="false" rot="0">
            <a:off x="1005938" y="3318378"/>
            <a:ext cx="5548125" cy="5646946"/>
          </a:xfrm>
          <a:custGeom>
            <a:avLst/>
            <a:gdLst/>
            <a:ahLst/>
            <a:cxnLst/>
            <a:rect r="r" b="b" t="t" l="l"/>
            <a:pathLst>
              <a:path h="5646946" w="5548125">
                <a:moveTo>
                  <a:pt x="0" y="0"/>
                </a:moveTo>
                <a:lnTo>
                  <a:pt x="5548124" y="0"/>
                </a:lnTo>
                <a:lnTo>
                  <a:pt x="5548124" y="5646947"/>
                </a:lnTo>
                <a:lnTo>
                  <a:pt x="0" y="5646947"/>
                </a:lnTo>
                <a:lnTo>
                  <a:pt x="0" y="0"/>
                </a:lnTo>
                <a:close/>
              </a:path>
            </a:pathLst>
          </a:custGeom>
          <a:blipFill>
            <a:blip r:embed="rId4"/>
            <a:stretch>
              <a:fillRect l="0" t="0" r="0" b="0"/>
            </a:stretch>
          </a:blipFill>
        </p:spPr>
        <p:txBody>
          <a:bodyPr/>
          <a:p/>
        </p:txBody>
      </p:sp>
      <p:sp>
        <p:nvSpPr>
          <p:cNvPr name="TextBox 10" id="10"/>
          <p:cNvSpPr txBox="true"/>
          <p:nvPr/>
        </p:nvSpPr>
        <p:spPr>
          <a:xfrm rot="0">
            <a:off x="788971" y="889508"/>
            <a:ext cx="5982058"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rencana anggaran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571099" y="3238770"/>
            <a:ext cx="2417802"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paket</a:t>
            </a:r>
          </a:p>
        </p:txBody>
      </p:sp>
      <p:sp>
        <p:nvSpPr>
          <p:cNvPr name="TextBox 11" id="11"/>
          <p:cNvSpPr txBox="true"/>
          <p:nvPr/>
        </p:nvSpPr>
        <p:spPr>
          <a:xfrm rot="0">
            <a:off x="987697" y="3789156"/>
            <a:ext cx="5584606" cy="4882730"/>
          </a:xfrm>
          <a:prstGeom prst="rect">
            <a:avLst/>
          </a:prstGeom>
        </p:spPr>
        <p:txBody>
          <a:bodyPr anchor="t" rtlCol="false" tIns="0" lIns="0" bIns="0" rIns="0">
            <a:spAutoFit/>
          </a:bodyPr>
          <a:lstStyle/>
          <a:p>
            <a:pPr algn="just">
              <a:lnSpc>
                <a:spcPts val="1791"/>
              </a:lnSpc>
            </a:pPr>
          </a:p>
          <a:p>
            <a:pPr algn="l">
              <a:lnSpc>
                <a:spcPts val="895"/>
              </a:lnSpc>
            </a:pPr>
          </a:p>
          <a:p>
            <a:pPr algn="just">
              <a:lnSpc>
                <a:spcPts val="1791"/>
              </a:lnSpc>
            </a:pPr>
          </a:p>
          <a:p>
            <a:pPr algn="just">
              <a:lnSpc>
                <a:spcPts val="1791"/>
              </a:lnSpc>
            </a:pPr>
            <a:r>
              <a:rPr lang="en-US" sz="1279" b="true">
                <a:solidFill>
                  <a:srgbClr val="000000"/>
                </a:solidFill>
                <a:latin typeface="Montserrat 1 Bold"/>
                <a:ea typeface="Montserrat 1 Bold"/>
                <a:cs typeface="Montserrat 1 Bold"/>
                <a:sym typeface="Montserrat 1 Bold"/>
              </a:rPr>
              <a:t>1. Logo/Name pada backdrop utama (MMT) sebagai Sponsor Utama.</a:t>
            </a:r>
          </a:p>
          <a:p>
            <a:pPr algn="just">
              <a:lnSpc>
                <a:spcPts val="1791"/>
              </a:lnSpc>
            </a:pPr>
            <a:r>
              <a:rPr lang="en-US" sz="1279" b="true">
                <a:solidFill>
                  <a:srgbClr val="000000"/>
                </a:solidFill>
                <a:latin typeface="Montserrat 1 Bold"/>
                <a:ea typeface="Montserrat 1 Bold"/>
                <a:cs typeface="Montserrat 1 Bold"/>
                <a:sym typeface="Montserrat 1 Bold"/>
              </a:rPr>
              <a:t>2. Promosi maksimal di semua media sosial dan materi publikasi (pamflet, dll.).</a:t>
            </a:r>
          </a:p>
          <a:p>
            <a:pPr algn="just">
              <a:lnSpc>
                <a:spcPts val="1791"/>
              </a:lnSpc>
            </a:pPr>
            <a:r>
              <a:rPr lang="en-US" sz="1279" b="true">
                <a:solidFill>
                  <a:srgbClr val="000000"/>
                </a:solidFill>
                <a:latin typeface="Montserrat 1 Bold"/>
                <a:ea typeface="Montserrat 1 Bold"/>
                <a:cs typeface="Montserrat 1 Bold"/>
                <a:sym typeface="Montserrat 1 Bold"/>
              </a:rPr>
              <a:t>3. Product placement selama acara berlangsung.</a:t>
            </a:r>
          </a:p>
          <a:p>
            <a:pPr algn="just">
              <a:lnSpc>
                <a:spcPts val="1791"/>
              </a:lnSpc>
            </a:pPr>
            <a:r>
              <a:rPr lang="en-US" sz="1279" b="true">
                <a:solidFill>
                  <a:srgbClr val="000000"/>
                </a:solidFill>
                <a:latin typeface="Montserrat 1 Bold"/>
                <a:ea typeface="Montserrat 1 Bold"/>
                <a:cs typeface="Montserrat 1 Bold"/>
                <a:sym typeface="Montserrat 1 Bold"/>
              </a:rPr>
              <a:t>4. Sesi khusus untuk promosi sponsor. </a:t>
            </a:r>
          </a:p>
          <a:p>
            <a:pPr algn="just">
              <a:lnSpc>
                <a:spcPts val="1791"/>
              </a:lnSpc>
            </a:pPr>
            <a:r>
              <a:rPr lang="en-US" sz="1279" b="true">
                <a:solidFill>
                  <a:srgbClr val="000000"/>
                </a:solidFill>
                <a:latin typeface="Montserrat 1 Bold"/>
                <a:ea typeface="Montserrat 1 Bold"/>
                <a:cs typeface="Montserrat 1 Bold"/>
                <a:sym typeface="Montserrat 1 Bold"/>
              </a:rPr>
              <a:t>5. Penyebutan nama sponsor oleh MC.</a:t>
            </a:r>
          </a:p>
          <a:p>
            <a:pPr algn="just">
              <a:lnSpc>
                <a:spcPts val="1791"/>
              </a:lnSpc>
            </a:pPr>
            <a:r>
              <a:rPr lang="en-US" sz="1279" b="true">
                <a:solidFill>
                  <a:srgbClr val="000000"/>
                </a:solidFill>
                <a:latin typeface="Montserrat 1 Bold"/>
                <a:ea typeface="Montserrat 1 Bold"/>
                <a:cs typeface="Montserrat 1 Bold"/>
                <a:sym typeface="Montserrat 1 Bold"/>
              </a:rPr>
              <a:t>6. Tercantum dalam semua dokumentasi (foto dan video).</a:t>
            </a:r>
          </a:p>
          <a:p>
            <a:pPr algn="just">
              <a:lnSpc>
                <a:spcPts val="1791"/>
              </a:lnSpc>
            </a:pPr>
            <a:r>
              <a:rPr lang="en-US" sz="1279" b="true">
                <a:solidFill>
                  <a:srgbClr val="000000"/>
                </a:solidFill>
                <a:latin typeface="Montserrat 1 Bold"/>
                <a:ea typeface="Montserrat 1 Bold"/>
                <a:cs typeface="Montserrat 1 Bold"/>
                <a:sym typeface="Montserrat 1 Bold"/>
              </a:rPr>
              <a:t>7. Piagam penghargaan sebagai sponsor utama.</a:t>
            </a:r>
          </a:p>
          <a:p>
            <a:pPr algn="just">
              <a:lnSpc>
                <a:spcPts val="1791"/>
              </a:lnSpc>
            </a:pPr>
          </a:p>
          <a:p>
            <a:pPr algn="just">
              <a:lnSpc>
                <a:spcPts val="1791"/>
              </a:lnSpc>
            </a:pPr>
          </a:p>
          <a:p>
            <a:pPr algn="just">
              <a:lnSpc>
                <a:spcPts val="1791"/>
              </a:lnSpc>
            </a:pPr>
          </a:p>
          <a:p>
            <a:pPr algn="just">
              <a:lnSpc>
                <a:spcPts val="1791"/>
              </a:lnSpc>
            </a:pPr>
            <a:r>
              <a:rPr lang="en-US" sz="1279" b="true">
                <a:solidFill>
                  <a:srgbClr val="000000"/>
                </a:solidFill>
                <a:latin typeface="Montserrat 1 Bold"/>
                <a:ea typeface="Montserrat 1 Bold"/>
                <a:cs typeface="Montserrat 1 Bold"/>
                <a:sym typeface="Montserrat 1 Bold"/>
              </a:rPr>
              <a:t>1. Logo/Name pada backdrop utama (MMT) sebagai Sponsor Pendukung.</a:t>
            </a:r>
          </a:p>
          <a:p>
            <a:pPr algn="just">
              <a:lnSpc>
                <a:spcPts val="1791"/>
              </a:lnSpc>
            </a:pPr>
            <a:r>
              <a:rPr lang="en-US" sz="1279" b="true">
                <a:solidFill>
                  <a:srgbClr val="000000"/>
                </a:solidFill>
                <a:latin typeface="Montserrat 1 Bold"/>
                <a:ea typeface="Montserrat 1 Bold"/>
                <a:cs typeface="Montserrat 1 Bold"/>
                <a:sym typeface="Montserrat 1 Bold"/>
              </a:rPr>
              <a:t>2. Promosi di media sosial (min. 3 postingan).</a:t>
            </a:r>
          </a:p>
          <a:p>
            <a:pPr algn="just">
              <a:lnSpc>
                <a:spcPts val="1791"/>
              </a:lnSpc>
            </a:pPr>
            <a:r>
              <a:rPr lang="en-US" sz="1279" b="true">
                <a:solidFill>
                  <a:srgbClr val="000000"/>
                </a:solidFill>
                <a:latin typeface="Montserrat 1 Bold"/>
                <a:ea typeface="Montserrat 1 Bold"/>
                <a:cs typeface="Montserrat 1 Bold"/>
                <a:sym typeface="Montserrat 1 Bold"/>
              </a:rPr>
              <a:t>3. Pro</a:t>
            </a:r>
            <a:r>
              <a:rPr lang="en-US" b="true" sz="1279">
                <a:solidFill>
                  <a:srgbClr val="000000"/>
                </a:solidFill>
                <a:latin typeface="Montserrat 1 Bold"/>
                <a:ea typeface="Montserrat 1 Bold"/>
                <a:cs typeface="Montserrat 1 Bold"/>
                <a:sym typeface="Montserrat 1 Bold"/>
              </a:rPr>
              <a:t>duct placement di area konsumsi.</a:t>
            </a:r>
          </a:p>
          <a:p>
            <a:pPr algn="just">
              <a:lnSpc>
                <a:spcPts val="1791"/>
              </a:lnSpc>
            </a:pPr>
            <a:r>
              <a:rPr lang="en-US" b="true" sz="1279">
                <a:solidFill>
                  <a:srgbClr val="000000"/>
                </a:solidFill>
                <a:latin typeface="Montserrat 1 Bold"/>
                <a:ea typeface="Montserrat 1 Bold"/>
                <a:cs typeface="Montserrat 1 Bold"/>
                <a:sym typeface="Montserrat 1 Bold"/>
              </a:rPr>
              <a:t>4. Penyebutan nama sponsor oleh MC. </a:t>
            </a:r>
          </a:p>
          <a:p>
            <a:pPr algn="just">
              <a:lnSpc>
                <a:spcPts val="1791"/>
              </a:lnSpc>
            </a:pPr>
            <a:r>
              <a:rPr lang="en-US" b="true" sz="1279">
                <a:solidFill>
                  <a:srgbClr val="000000"/>
                </a:solidFill>
                <a:latin typeface="Montserrat 1 Bold"/>
                <a:ea typeface="Montserrat 1 Bold"/>
                <a:cs typeface="Montserrat 1 Bold"/>
                <a:sym typeface="Montserrat 1 Bold"/>
              </a:rPr>
              <a:t>5. Tercantum dalam dokumentasi foto.</a:t>
            </a:r>
          </a:p>
          <a:p>
            <a:pPr algn="just">
              <a:lnSpc>
                <a:spcPts val="1791"/>
              </a:lnSpc>
            </a:pPr>
          </a:p>
          <a:p>
            <a:pPr algn="l">
              <a:lnSpc>
                <a:spcPts val="671"/>
              </a:lnSpc>
            </a:pPr>
          </a:p>
        </p:txBody>
      </p:sp>
      <p:sp>
        <p:nvSpPr>
          <p:cNvPr name="TextBox 12" id="12"/>
          <p:cNvSpPr txBox="true"/>
          <p:nvPr/>
        </p:nvSpPr>
        <p:spPr>
          <a:xfrm rot="0">
            <a:off x="756000" y="3622945"/>
            <a:ext cx="6048000" cy="997129"/>
          </a:xfrm>
          <a:prstGeom prst="rect">
            <a:avLst/>
          </a:prstGeom>
        </p:spPr>
        <p:txBody>
          <a:bodyPr anchor="t" rtlCol="false" tIns="0" lIns="0" bIns="0" rIns="0">
            <a:spAutoFit/>
          </a:bodyPr>
          <a:lstStyle/>
          <a:p>
            <a:pPr algn="ctr">
              <a:lnSpc>
                <a:spcPts val="2656"/>
              </a:lnSpc>
            </a:pPr>
          </a:p>
          <a:p>
            <a:pPr algn="ctr">
              <a:lnSpc>
                <a:spcPts val="2656"/>
              </a:lnSpc>
            </a:pPr>
            <a:r>
              <a:rPr lang="en-US" sz="1897">
                <a:solidFill>
                  <a:srgbClr val="FAFAFA"/>
                </a:solidFill>
                <a:latin typeface="Chicalo"/>
                <a:ea typeface="Chicalo"/>
                <a:cs typeface="Chicalo"/>
                <a:sym typeface="Chicalo"/>
              </a:rPr>
              <a:t>1.</a:t>
            </a:r>
            <a:r>
              <a:rPr lang="en-US" sz="1897">
                <a:solidFill>
                  <a:srgbClr val="FAFAFA"/>
                </a:solidFill>
                <a:latin typeface="Chicalo"/>
                <a:ea typeface="Chicalo"/>
                <a:cs typeface="Chicalo"/>
                <a:sym typeface="Chicalo"/>
              </a:rPr>
              <a:t> Paket Platinum (Rp 2.500.000 - Rp 6.000.000)</a:t>
            </a:r>
          </a:p>
          <a:p>
            <a:pPr algn="ctr">
              <a:lnSpc>
                <a:spcPts val="2656"/>
              </a:lnSpc>
            </a:pPr>
          </a:p>
        </p:txBody>
      </p:sp>
      <p:sp>
        <p:nvSpPr>
          <p:cNvPr name="TextBox 13" id="13"/>
          <p:cNvSpPr txBox="true"/>
          <p:nvPr/>
        </p:nvSpPr>
        <p:spPr>
          <a:xfrm rot="0">
            <a:off x="449062" y="6488457"/>
            <a:ext cx="6048000" cy="331994"/>
          </a:xfrm>
          <a:prstGeom prst="rect">
            <a:avLst/>
          </a:prstGeom>
        </p:spPr>
        <p:txBody>
          <a:bodyPr anchor="t" rtlCol="false" tIns="0" lIns="0" bIns="0" rIns="0">
            <a:spAutoFit/>
          </a:bodyPr>
          <a:lstStyle/>
          <a:p>
            <a:pPr algn="ctr">
              <a:lnSpc>
                <a:spcPts val="2656"/>
              </a:lnSpc>
            </a:pPr>
            <a:r>
              <a:rPr lang="en-US" sz="1897">
                <a:solidFill>
                  <a:srgbClr val="FAFAFA"/>
                </a:solidFill>
                <a:latin typeface="Chicalo"/>
                <a:ea typeface="Chicalo"/>
                <a:cs typeface="Chicalo"/>
                <a:sym typeface="Chicalo"/>
              </a:rPr>
              <a:t>2. </a:t>
            </a:r>
            <a:r>
              <a:rPr lang="en-US" sz="1897">
                <a:solidFill>
                  <a:srgbClr val="FAFAFA"/>
                </a:solidFill>
                <a:latin typeface="Chicalo"/>
                <a:ea typeface="Chicalo"/>
                <a:cs typeface="Chicalo"/>
                <a:sym typeface="Chicalo"/>
              </a:rPr>
              <a:t>Paket Gold (Rp 1.000.000 - Rp 3.000.000)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42" y="889508"/>
            <a:ext cx="401371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571099" y="3238770"/>
            <a:ext cx="2417802"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paket</a:t>
            </a:r>
          </a:p>
        </p:txBody>
      </p:sp>
      <p:sp>
        <p:nvSpPr>
          <p:cNvPr name="TextBox 11" id="11"/>
          <p:cNvSpPr txBox="true"/>
          <p:nvPr/>
        </p:nvSpPr>
        <p:spPr>
          <a:xfrm rot="0">
            <a:off x="989057" y="4039025"/>
            <a:ext cx="5341101" cy="4137627"/>
          </a:xfrm>
          <a:prstGeom prst="rect">
            <a:avLst/>
          </a:prstGeom>
        </p:spPr>
        <p:txBody>
          <a:bodyPr anchor="t" rtlCol="false" tIns="0" lIns="0" bIns="0" rIns="0">
            <a:spAutoFit/>
          </a:bodyPr>
          <a:lstStyle/>
          <a:p>
            <a:pPr algn="just">
              <a:lnSpc>
                <a:spcPts val="2294"/>
              </a:lnSpc>
            </a:pPr>
          </a:p>
          <a:p>
            <a:pPr algn="just">
              <a:lnSpc>
                <a:spcPts val="2294"/>
              </a:lnSpc>
            </a:pPr>
          </a:p>
          <a:p>
            <a:pPr algn="just">
              <a:lnSpc>
                <a:spcPts val="2294"/>
              </a:lnSpc>
            </a:pPr>
            <a:r>
              <a:rPr lang="en-US" sz="1639" b="true">
                <a:solidFill>
                  <a:srgbClr val="000000"/>
                </a:solidFill>
                <a:latin typeface="Canva Sans Bold"/>
                <a:ea typeface="Canva Sans Bold"/>
                <a:cs typeface="Canva Sans Bold"/>
                <a:sym typeface="Canva Sans Bold"/>
              </a:rPr>
              <a:t>1. Logo/Name pada backdrop utama (MMT).</a:t>
            </a:r>
          </a:p>
          <a:p>
            <a:pPr algn="just">
              <a:lnSpc>
                <a:spcPts val="2294"/>
              </a:lnSpc>
            </a:pPr>
            <a:r>
              <a:rPr lang="en-US" sz="1639" b="true">
                <a:solidFill>
                  <a:srgbClr val="000000"/>
                </a:solidFill>
                <a:latin typeface="Canva Sans Bold"/>
                <a:ea typeface="Canva Sans Bold"/>
                <a:cs typeface="Canva Sans Bold"/>
                <a:sym typeface="Canva Sans Bold"/>
              </a:rPr>
              <a:t>2. Promosi di media sosial (min. 2 postingan).</a:t>
            </a:r>
          </a:p>
          <a:p>
            <a:pPr algn="just">
              <a:lnSpc>
                <a:spcPts val="2294"/>
              </a:lnSpc>
            </a:pPr>
            <a:r>
              <a:rPr lang="en-US" sz="1639" b="true">
                <a:solidFill>
                  <a:srgbClr val="000000"/>
                </a:solidFill>
                <a:latin typeface="Canva Sans Bold"/>
                <a:ea typeface="Canva Sans Bold"/>
                <a:cs typeface="Canva Sans Bold"/>
                <a:sym typeface="Canva Sans Bold"/>
              </a:rPr>
              <a:t>3. Tercantum dalam dokumentasi foto.</a:t>
            </a:r>
          </a:p>
          <a:p>
            <a:pPr algn="just">
              <a:lnSpc>
                <a:spcPts val="2294"/>
              </a:lnSpc>
            </a:pPr>
            <a:r>
              <a:rPr lang="en-US" sz="1639" b="true">
                <a:solidFill>
                  <a:srgbClr val="000000"/>
                </a:solidFill>
                <a:latin typeface="Canva Sans Bold"/>
                <a:ea typeface="Canva Sans Bold"/>
                <a:cs typeface="Canva Sans Bold"/>
                <a:sym typeface="Canva Sans Bold"/>
              </a:rPr>
              <a:t>4</a:t>
            </a:r>
            <a:r>
              <a:rPr lang="en-US" sz="1639" b="true">
                <a:solidFill>
                  <a:srgbClr val="000000"/>
                </a:solidFill>
                <a:latin typeface="Canva Sans Bold"/>
                <a:ea typeface="Canva Sans Bold"/>
                <a:cs typeface="Canva Sans Bold"/>
                <a:sym typeface="Canva Sans Bold"/>
              </a:rPr>
              <a:t>. Penyebutan nama sponsor oleh MC.</a:t>
            </a:r>
          </a:p>
          <a:p>
            <a:pPr algn="just">
              <a:lnSpc>
                <a:spcPts val="2294"/>
              </a:lnSpc>
            </a:pPr>
          </a:p>
          <a:p>
            <a:pPr algn="just">
              <a:lnSpc>
                <a:spcPts val="2294"/>
              </a:lnSpc>
            </a:pPr>
          </a:p>
          <a:p>
            <a:pPr algn="just">
              <a:lnSpc>
                <a:spcPts val="2294"/>
              </a:lnSpc>
            </a:pPr>
          </a:p>
          <a:p>
            <a:pPr algn="just">
              <a:lnSpc>
                <a:spcPts val="2294"/>
              </a:lnSpc>
            </a:pPr>
            <a:r>
              <a:rPr lang="en-US" sz="1639" b="true">
                <a:solidFill>
                  <a:srgbClr val="000000"/>
                </a:solidFill>
                <a:latin typeface="Canva Sans Bold"/>
                <a:ea typeface="Canva Sans Bold"/>
                <a:cs typeface="Canva Sans Bold"/>
                <a:sym typeface="Canva Sans Bold"/>
              </a:rPr>
              <a:t>1</a:t>
            </a:r>
            <a:r>
              <a:rPr lang="en-US" sz="1639" b="true">
                <a:solidFill>
                  <a:srgbClr val="000000"/>
                </a:solidFill>
                <a:latin typeface="Canva Sans Bold"/>
                <a:ea typeface="Canva Sans Bold"/>
                <a:cs typeface="Canva Sans Bold"/>
                <a:sym typeface="Canva Sans Bold"/>
              </a:rPr>
              <a:t>. Manfaat disesuaikan dengan nilai barang yang disumbangkan (akan dikonversi ke nilai rupiah).</a:t>
            </a:r>
          </a:p>
          <a:p>
            <a:pPr algn="just">
              <a:lnSpc>
                <a:spcPts val="2294"/>
              </a:lnSpc>
            </a:pPr>
            <a:r>
              <a:rPr lang="en-US" sz="1639" b="true">
                <a:solidFill>
                  <a:srgbClr val="000000"/>
                </a:solidFill>
                <a:latin typeface="Canva Sans Bold"/>
                <a:ea typeface="Canva Sans Bold"/>
                <a:cs typeface="Canva Sans Bold"/>
                <a:sym typeface="Canva Sans Bold"/>
              </a:rPr>
              <a:t>2</a:t>
            </a:r>
            <a:r>
              <a:rPr lang="en-US" sz="1639" b="true">
                <a:solidFill>
                  <a:srgbClr val="000000"/>
                </a:solidFill>
                <a:latin typeface="Canva Sans Bold"/>
                <a:ea typeface="Canva Sans Bold"/>
                <a:cs typeface="Canva Sans Bold"/>
                <a:sym typeface="Canva Sans Bold"/>
              </a:rPr>
              <a:t>. Logo/Name tercantum di media sosial dan backdrop (uk</a:t>
            </a:r>
            <a:r>
              <a:rPr lang="en-US" b="true" sz="1639">
                <a:solidFill>
                  <a:srgbClr val="000000"/>
                </a:solidFill>
                <a:latin typeface="Canva Sans Bold"/>
                <a:ea typeface="Canva Sans Bold"/>
                <a:cs typeface="Canva Sans Bold"/>
                <a:sym typeface="Canva Sans Bold"/>
              </a:rPr>
              <a:t>uran sesuai nilai kontribusi).</a:t>
            </a:r>
          </a:p>
          <a:p>
            <a:pPr algn="just">
              <a:lnSpc>
                <a:spcPts val="2294"/>
              </a:lnSpc>
            </a:pPr>
            <a:r>
              <a:rPr lang="en-US" b="true" sz="1639">
                <a:solidFill>
                  <a:srgbClr val="000000"/>
                </a:solidFill>
                <a:latin typeface="Canva Sans Bold"/>
                <a:ea typeface="Canva Sans Bold"/>
                <a:cs typeface="Canva Sans Bold"/>
                <a:sym typeface="Canva Sans Bold"/>
              </a:rPr>
              <a:t>3. Kesempatan product placement.</a:t>
            </a:r>
          </a:p>
          <a:p>
            <a:pPr algn="l">
              <a:lnSpc>
                <a:spcPts val="860"/>
              </a:lnSpc>
            </a:pPr>
          </a:p>
        </p:txBody>
      </p:sp>
      <p:sp>
        <p:nvSpPr>
          <p:cNvPr name="TextBox 12" id="12"/>
          <p:cNvSpPr txBox="true"/>
          <p:nvPr/>
        </p:nvSpPr>
        <p:spPr>
          <a:xfrm rot="0">
            <a:off x="989057" y="4195329"/>
            <a:ext cx="5461494" cy="369707"/>
          </a:xfrm>
          <a:prstGeom prst="rect">
            <a:avLst/>
          </a:prstGeom>
        </p:spPr>
        <p:txBody>
          <a:bodyPr anchor="t" rtlCol="false" tIns="0" lIns="0" bIns="0" rIns="0">
            <a:spAutoFit/>
          </a:bodyPr>
          <a:lstStyle/>
          <a:p>
            <a:pPr algn="ctr">
              <a:lnSpc>
                <a:spcPts val="3008"/>
              </a:lnSpc>
            </a:pPr>
            <a:r>
              <a:rPr lang="en-US" sz="2149">
                <a:solidFill>
                  <a:srgbClr val="FAFAFA"/>
                </a:solidFill>
                <a:latin typeface="Chicalo"/>
                <a:ea typeface="Chicalo"/>
                <a:cs typeface="Chicalo"/>
                <a:sym typeface="Chicalo"/>
              </a:rPr>
              <a:t>3. Paket Silver (Rp 500.000 - Rp 999.999)</a:t>
            </a:r>
          </a:p>
        </p:txBody>
      </p:sp>
      <p:sp>
        <p:nvSpPr>
          <p:cNvPr name="TextBox 13" id="13"/>
          <p:cNvSpPr txBox="true"/>
          <p:nvPr/>
        </p:nvSpPr>
        <p:spPr>
          <a:xfrm rot="0">
            <a:off x="989057" y="6074501"/>
            <a:ext cx="4806156" cy="369707"/>
          </a:xfrm>
          <a:prstGeom prst="rect">
            <a:avLst/>
          </a:prstGeom>
        </p:spPr>
        <p:txBody>
          <a:bodyPr anchor="t" rtlCol="false" tIns="0" lIns="0" bIns="0" rIns="0">
            <a:spAutoFit/>
          </a:bodyPr>
          <a:lstStyle/>
          <a:p>
            <a:pPr algn="ctr">
              <a:lnSpc>
                <a:spcPts val="3008"/>
              </a:lnSpc>
            </a:pPr>
            <a:r>
              <a:rPr lang="en-US" sz="2149">
                <a:solidFill>
                  <a:srgbClr val="FAFAFA"/>
                </a:solidFill>
                <a:latin typeface="Chicalo"/>
                <a:ea typeface="Chicalo"/>
                <a:cs typeface="Chicalo"/>
                <a:sym typeface="Chicalo"/>
              </a:rPr>
              <a:t>4. Paket Sponsor Barang (In-Kind)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75197"/>
            <a:ext cx="6048000" cy="6510059"/>
            <a:chOff x="0" y="0"/>
            <a:chExt cx="2167467" cy="2333058"/>
          </a:xfrm>
        </p:grpSpPr>
        <p:sp>
          <p:nvSpPr>
            <p:cNvPr name="Freeform 4" id="4"/>
            <p:cNvSpPr/>
            <p:nvPr/>
          </p:nvSpPr>
          <p:spPr>
            <a:xfrm flipH="false" flipV="false" rot="0">
              <a:off x="0" y="0"/>
              <a:ext cx="2167467" cy="2333058"/>
            </a:xfrm>
            <a:custGeom>
              <a:avLst/>
              <a:gdLst/>
              <a:ahLst/>
              <a:cxnLst/>
              <a:rect r="r" b="b" t="t" l="l"/>
              <a:pathLst>
                <a:path h="2333058" w="2167467">
                  <a:moveTo>
                    <a:pt x="47363" y="0"/>
                  </a:moveTo>
                  <a:lnTo>
                    <a:pt x="2120104" y="0"/>
                  </a:lnTo>
                  <a:cubicBezTo>
                    <a:pt x="2146262" y="0"/>
                    <a:pt x="2167467" y="21205"/>
                    <a:pt x="2167467" y="47363"/>
                  </a:cubicBezTo>
                  <a:lnTo>
                    <a:pt x="2167467" y="2285695"/>
                  </a:lnTo>
                  <a:cubicBezTo>
                    <a:pt x="2167467" y="2311853"/>
                    <a:pt x="2146262" y="2333058"/>
                    <a:pt x="2120104" y="2333058"/>
                  </a:cubicBezTo>
                  <a:lnTo>
                    <a:pt x="47363" y="2333058"/>
                  </a:lnTo>
                  <a:cubicBezTo>
                    <a:pt x="34802" y="2333058"/>
                    <a:pt x="22755" y="2328068"/>
                    <a:pt x="13872" y="2319186"/>
                  </a:cubicBezTo>
                  <a:cubicBezTo>
                    <a:pt x="4990" y="2310303"/>
                    <a:pt x="0" y="2298256"/>
                    <a:pt x="0" y="22856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16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197659" y="3142094"/>
            <a:ext cx="3164681"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non-paket</a:t>
            </a:r>
          </a:p>
        </p:txBody>
      </p:sp>
      <p:sp>
        <p:nvSpPr>
          <p:cNvPr name="TextBox 11" id="11"/>
          <p:cNvSpPr txBox="true"/>
          <p:nvPr/>
        </p:nvSpPr>
        <p:spPr>
          <a:xfrm rot="0">
            <a:off x="1110258" y="3859446"/>
            <a:ext cx="5339484" cy="5501121"/>
          </a:xfrm>
          <a:prstGeom prst="rect">
            <a:avLst/>
          </a:prstGeom>
        </p:spPr>
        <p:txBody>
          <a:bodyPr anchor="t" rtlCol="false" tIns="0" lIns="0" bIns="0" rIns="0">
            <a:spAutoFit/>
          </a:bodyPr>
          <a:lstStyle/>
          <a:p>
            <a:pPr algn="just">
              <a:lnSpc>
                <a:spcPts val="2197"/>
              </a:lnSpc>
            </a:pPr>
            <a:r>
              <a:rPr lang="en-US" sz="1569" b="true">
                <a:solidFill>
                  <a:srgbClr val="000000"/>
                </a:solidFill>
                <a:latin typeface="Canva Sans Bold"/>
                <a:ea typeface="Canva Sans Bold"/>
                <a:cs typeface="Canva Sans Bold"/>
                <a:sym typeface="Canva Sans Bold"/>
              </a:rPr>
              <a:t> </a:t>
            </a:r>
          </a:p>
          <a:p>
            <a:pPr algn="just">
              <a:lnSpc>
                <a:spcPts val="2197"/>
              </a:lnSpc>
            </a:pPr>
            <a:r>
              <a:rPr lang="en-US" b="true" sz="1569">
                <a:solidFill>
                  <a:srgbClr val="000000"/>
                </a:solidFill>
                <a:latin typeface="Canva Sans Bold"/>
                <a:ea typeface="Canva Sans Bold"/>
                <a:cs typeface="Canva Sans Bold"/>
                <a:sym typeface="Canva Sans Bold"/>
              </a:rPr>
              <a:t>Logo sponsor ditampilkan secara prominent di backdrop panggung utama sepanjang acara.</a:t>
            </a:r>
          </a:p>
          <a:p>
            <a:pPr algn="just">
              <a:lnSpc>
                <a:spcPts val="2197"/>
              </a:lnSpc>
            </a:pPr>
            <a:r>
              <a:rPr lang="en-US" b="true" sz="1569">
                <a:solidFill>
                  <a:srgbClr val="000000"/>
                </a:solidFill>
                <a:latin typeface="Canva Sans Bold"/>
                <a:ea typeface="Canva Sans Bold"/>
                <a:cs typeface="Canva Sans Bold"/>
                <a:sym typeface="Canva Sans Bold"/>
              </a:rPr>
              <a:t>Investasi: Rp 750.000 - Rp 1.500.000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Logo tercantum di poster digital, feed Instagram, story, dan live report.</a:t>
            </a:r>
          </a:p>
          <a:p>
            <a:pPr algn="just">
              <a:lnSpc>
                <a:spcPts val="2197"/>
              </a:lnSpc>
            </a:pPr>
            <a:r>
              <a:rPr lang="en-US" b="true" sz="1569">
                <a:solidFill>
                  <a:srgbClr val="000000"/>
                </a:solidFill>
                <a:latin typeface="Canva Sans Bold"/>
                <a:ea typeface="Canva Sans Bold"/>
                <a:cs typeface="Canva Sans Bold"/>
                <a:sym typeface="Canva Sans Bold"/>
              </a:rPr>
              <a:t>Investasi: Rp 500.000 - Rp 1.000.000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Logo ditempelkan (watermark) pada minimal 5 foto dokumentasi resmi yang dibagikan ke publik. </a:t>
            </a:r>
          </a:p>
          <a:p>
            <a:pPr algn="just">
              <a:lnSpc>
                <a:spcPts val="2197"/>
              </a:lnSpc>
            </a:pPr>
            <a:r>
              <a:rPr lang="en-US" b="true" sz="1569">
                <a:solidFill>
                  <a:srgbClr val="000000"/>
                </a:solidFill>
                <a:latin typeface="Canva Sans Bold"/>
                <a:ea typeface="Canva Sans Bold"/>
                <a:cs typeface="Canva Sans Bold"/>
                <a:sym typeface="Canva Sans Bold"/>
              </a:rPr>
              <a:t>Investasi: Rp 250.000 - Rp 400.000</a:t>
            </a:r>
          </a:p>
          <a:p>
            <a:pPr algn="just">
              <a:lnSpc>
                <a:spcPts val="2197"/>
              </a:lnSpc>
            </a:pPr>
          </a:p>
          <a:p>
            <a:pPr algn="just">
              <a:lnSpc>
                <a:spcPts val="2197"/>
              </a:lnSpc>
            </a:pPr>
          </a:p>
          <a:p>
            <a:pPr algn="just">
              <a:lnSpc>
                <a:spcPts val="2197"/>
              </a:lnSpc>
            </a:pPr>
            <a:r>
              <a:rPr lang="en-US" b="true" sz="1569">
                <a:solidFill>
                  <a:srgbClr val="000000"/>
                </a:solidFill>
                <a:latin typeface="Canva Sans Bold"/>
                <a:ea typeface="Canva Sans Bold"/>
                <a:cs typeface="Canva Sans Bold"/>
                <a:sym typeface="Canva Sans Bold"/>
              </a:rPr>
              <a:t>Penyebutan nama/logo sponsor di caption pada 3 postingan berbeda terkait acara.</a:t>
            </a:r>
          </a:p>
          <a:p>
            <a:pPr algn="just">
              <a:lnSpc>
                <a:spcPts val="2197"/>
              </a:lnSpc>
            </a:pPr>
            <a:r>
              <a:rPr lang="en-US" b="true" sz="1569">
                <a:solidFill>
                  <a:srgbClr val="000000"/>
                </a:solidFill>
                <a:latin typeface="Canva Sans Bold"/>
                <a:ea typeface="Canva Sans Bold"/>
                <a:cs typeface="Canva Sans Bold"/>
                <a:sym typeface="Canva Sans Bold"/>
              </a:rPr>
              <a:t>Investasi: Rp 750.000 - Rp 1.200.000</a:t>
            </a:r>
          </a:p>
          <a:p>
            <a:pPr algn="just">
              <a:lnSpc>
                <a:spcPts val="2197"/>
              </a:lnSpc>
            </a:pPr>
          </a:p>
        </p:txBody>
      </p:sp>
      <p:sp>
        <p:nvSpPr>
          <p:cNvPr name="TextBox 12" id="12"/>
          <p:cNvSpPr txBox="true"/>
          <p:nvPr/>
        </p:nvSpPr>
        <p:spPr>
          <a:xfrm rot="0">
            <a:off x="862553" y="3698078"/>
            <a:ext cx="4688028" cy="332262"/>
          </a:xfrm>
          <a:prstGeom prst="rect">
            <a:avLst/>
          </a:prstGeom>
        </p:spPr>
        <p:txBody>
          <a:bodyPr anchor="t" rtlCol="false" tIns="0" lIns="0" bIns="0" rIns="0">
            <a:spAutoFit/>
          </a:bodyPr>
          <a:lstStyle/>
          <a:p>
            <a:pPr algn="ctr" marL="410070" indent="-205035" lvl="1">
              <a:lnSpc>
                <a:spcPts val="2659"/>
              </a:lnSpc>
              <a:buAutoNum type="arabicPeriod" startAt="1"/>
            </a:pPr>
            <a:r>
              <a:rPr lang="en-US" sz="1899">
                <a:solidFill>
                  <a:srgbClr val="FAFAFA"/>
                </a:solidFill>
                <a:latin typeface="Chicalo"/>
                <a:ea typeface="Chicalo"/>
                <a:cs typeface="Chicalo"/>
                <a:sym typeface="Chicalo"/>
              </a:rPr>
              <a:t> Logo pada Backdrop Utama (MMT)</a:t>
            </a:r>
          </a:p>
        </p:txBody>
      </p:sp>
      <p:sp>
        <p:nvSpPr>
          <p:cNvPr name="TextBox 13" id="13"/>
          <p:cNvSpPr txBox="true"/>
          <p:nvPr/>
        </p:nvSpPr>
        <p:spPr>
          <a:xfrm rot="0">
            <a:off x="1017022" y="5081468"/>
            <a:ext cx="4646418"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 2. Logo pada Seluruh Materi Digital </a:t>
            </a:r>
          </a:p>
        </p:txBody>
      </p:sp>
      <p:sp>
        <p:nvSpPr>
          <p:cNvPr name="TextBox 14" id="14"/>
          <p:cNvSpPr txBox="true"/>
          <p:nvPr/>
        </p:nvSpPr>
        <p:spPr>
          <a:xfrm rot="0">
            <a:off x="1110258" y="6527774"/>
            <a:ext cx="3881946"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3. Logo pada Dokumentasi Foto</a:t>
            </a:r>
          </a:p>
        </p:txBody>
      </p:sp>
      <p:sp>
        <p:nvSpPr>
          <p:cNvPr name="TextBox 15" id="15"/>
          <p:cNvSpPr txBox="true"/>
          <p:nvPr/>
        </p:nvSpPr>
        <p:spPr>
          <a:xfrm rot="0">
            <a:off x="1110258" y="7854187"/>
            <a:ext cx="4056414"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4. Shout-out dalam 3 Postingan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FF00CC">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75197"/>
            <a:ext cx="6048000" cy="6510059"/>
            <a:chOff x="0" y="0"/>
            <a:chExt cx="2167467" cy="2333058"/>
          </a:xfrm>
        </p:grpSpPr>
        <p:sp>
          <p:nvSpPr>
            <p:cNvPr name="Freeform 4" id="4"/>
            <p:cNvSpPr/>
            <p:nvPr/>
          </p:nvSpPr>
          <p:spPr>
            <a:xfrm flipH="false" flipV="false" rot="0">
              <a:off x="0" y="0"/>
              <a:ext cx="2167467" cy="2333058"/>
            </a:xfrm>
            <a:custGeom>
              <a:avLst/>
              <a:gdLst/>
              <a:ahLst/>
              <a:cxnLst/>
              <a:rect r="r" b="b" t="t" l="l"/>
              <a:pathLst>
                <a:path h="2333058" w="2167467">
                  <a:moveTo>
                    <a:pt x="47363" y="0"/>
                  </a:moveTo>
                  <a:lnTo>
                    <a:pt x="2120104" y="0"/>
                  </a:lnTo>
                  <a:cubicBezTo>
                    <a:pt x="2146262" y="0"/>
                    <a:pt x="2167467" y="21205"/>
                    <a:pt x="2167467" y="47363"/>
                  </a:cubicBezTo>
                  <a:lnTo>
                    <a:pt x="2167467" y="2285695"/>
                  </a:lnTo>
                  <a:cubicBezTo>
                    <a:pt x="2167467" y="2311853"/>
                    <a:pt x="2146262" y="2333058"/>
                    <a:pt x="2120104" y="2333058"/>
                  </a:cubicBezTo>
                  <a:lnTo>
                    <a:pt x="47363" y="2333058"/>
                  </a:lnTo>
                  <a:cubicBezTo>
                    <a:pt x="34802" y="2333058"/>
                    <a:pt x="22755" y="2328068"/>
                    <a:pt x="13872" y="2319186"/>
                  </a:cubicBezTo>
                  <a:cubicBezTo>
                    <a:pt x="4990" y="2310303"/>
                    <a:pt x="0" y="2298256"/>
                    <a:pt x="0" y="2285695"/>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1633"/>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27" y="889508"/>
            <a:ext cx="401374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paket</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2197659" y="3142094"/>
            <a:ext cx="3164681"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sponsor non-paket</a:t>
            </a:r>
          </a:p>
        </p:txBody>
      </p:sp>
      <p:sp>
        <p:nvSpPr>
          <p:cNvPr name="TextBox 11" id="11"/>
          <p:cNvSpPr txBox="true"/>
          <p:nvPr/>
        </p:nvSpPr>
        <p:spPr>
          <a:xfrm rot="0">
            <a:off x="1110258" y="3758606"/>
            <a:ext cx="4342936"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5. Insta-Story/IG-Story Promotion</a:t>
            </a:r>
          </a:p>
        </p:txBody>
      </p:sp>
      <p:sp>
        <p:nvSpPr>
          <p:cNvPr name="TextBox 12" id="12"/>
          <p:cNvSpPr txBox="true"/>
          <p:nvPr/>
        </p:nvSpPr>
        <p:spPr>
          <a:xfrm rot="0">
            <a:off x="1063956" y="5136494"/>
            <a:ext cx="2823038"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6. Penyebutan oleh mc</a:t>
            </a:r>
          </a:p>
        </p:txBody>
      </p:sp>
      <p:sp>
        <p:nvSpPr>
          <p:cNvPr name="TextBox 13" id="13"/>
          <p:cNvSpPr txBox="true"/>
          <p:nvPr/>
        </p:nvSpPr>
        <p:spPr>
          <a:xfrm rot="0">
            <a:off x="1071927" y="6512807"/>
            <a:ext cx="2899700" cy="332262"/>
          </a:xfrm>
          <a:prstGeom prst="rect">
            <a:avLst/>
          </a:prstGeom>
        </p:spPr>
        <p:txBody>
          <a:bodyPr anchor="t" rtlCol="false" tIns="0" lIns="0" bIns="0" rIns="0">
            <a:spAutoFit/>
          </a:bodyPr>
          <a:lstStyle/>
          <a:p>
            <a:pPr algn="ctr">
              <a:lnSpc>
                <a:spcPts val="2659"/>
              </a:lnSpc>
            </a:pPr>
            <a:r>
              <a:rPr lang="en-US" sz="1899">
                <a:solidFill>
                  <a:srgbClr val="FAFAFA"/>
                </a:solidFill>
                <a:latin typeface="Chicalo"/>
                <a:ea typeface="Chicalo"/>
                <a:cs typeface="Chicalo"/>
                <a:sym typeface="Chicalo"/>
              </a:rPr>
              <a:t>7. Piagam Penghargaan</a:t>
            </a:r>
          </a:p>
        </p:txBody>
      </p:sp>
      <p:sp>
        <p:nvSpPr>
          <p:cNvPr name="TextBox 14" id="14"/>
          <p:cNvSpPr txBox="true"/>
          <p:nvPr/>
        </p:nvSpPr>
        <p:spPr>
          <a:xfrm rot="0">
            <a:off x="1110258" y="4149593"/>
            <a:ext cx="5163152" cy="805926"/>
          </a:xfrm>
          <a:prstGeom prst="rect">
            <a:avLst/>
          </a:prstGeom>
        </p:spPr>
        <p:txBody>
          <a:bodyPr anchor="t" rtlCol="false" tIns="0" lIns="0" bIns="0" rIns="0">
            <a:spAutoFit/>
          </a:bodyPr>
          <a:lstStyle/>
          <a:p>
            <a:pPr algn="just">
              <a:lnSpc>
                <a:spcPts val="2170"/>
              </a:lnSpc>
            </a:pPr>
            <a:r>
              <a:rPr lang="en-US" sz="1550" b="true">
                <a:solidFill>
                  <a:srgbClr val="000000"/>
                </a:solidFill>
                <a:latin typeface="Canva Sans Bold"/>
                <a:ea typeface="Canva Sans Bold"/>
                <a:cs typeface="Canva Sans Bold"/>
                <a:sym typeface="Canva Sans Bold"/>
              </a:rPr>
              <a:t>Maksimal</a:t>
            </a:r>
            <a:r>
              <a:rPr lang="en-US" b="true" sz="1550">
                <a:solidFill>
                  <a:srgbClr val="000000"/>
                </a:solidFill>
                <a:latin typeface="Canva Sans Bold"/>
                <a:ea typeface="Canva Sans Bold"/>
                <a:cs typeface="Canva Sans Bold"/>
                <a:sym typeface="Canva Sans Bold"/>
              </a:rPr>
              <a:t> 5 story yang menyertakan logo sponsor selama periode acara (H-1, H, H+1).</a:t>
            </a:r>
          </a:p>
          <a:p>
            <a:pPr algn="just">
              <a:lnSpc>
                <a:spcPts val="2170"/>
              </a:lnSpc>
            </a:pPr>
            <a:r>
              <a:rPr lang="en-US" b="true" sz="1550">
                <a:solidFill>
                  <a:srgbClr val="000000"/>
                </a:solidFill>
                <a:latin typeface="Canva Sans Bold"/>
                <a:ea typeface="Canva Sans Bold"/>
                <a:cs typeface="Canva Sans Bold"/>
                <a:sym typeface="Canva Sans Bold"/>
              </a:rPr>
              <a:t>Investasi: Rp 200.000 - Rp 350.000 / story</a:t>
            </a:r>
          </a:p>
        </p:txBody>
      </p:sp>
      <p:sp>
        <p:nvSpPr>
          <p:cNvPr name="TextBox 15" id="15"/>
          <p:cNvSpPr txBox="true"/>
          <p:nvPr/>
        </p:nvSpPr>
        <p:spPr>
          <a:xfrm rot="0">
            <a:off x="1110258" y="5525906"/>
            <a:ext cx="5288803" cy="805926"/>
          </a:xfrm>
          <a:prstGeom prst="rect">
            <a:avLst/>
          </a:prstGeom>
        </p:spPr>
        <p:txBody>
          <a:bodyPr anchor="t" rtlCol="false" tIns="0" lIns="0" bIns="0" rIns="0">
            <a:spAutoFit/>
          </a:bodyPr>
          <a:lstStyle/>
          <a:p>
            <a:pPr algn="just">
              <a:lnSpc>
                <a:spcPts val="2170"/>
              </a:lnSpc>
            </a:pPr>
            <a:r>
              <a:rPr lang="en-US" b="true" sz="1550">
                <a:solidFill>
                  <a:srgbClr val="000000"/>
                </a:solidFill>
                <a:latin typeface="Canva Sans Bold"/>
                <a:ea typeface="Canva Sans Bold"/>
                <a:cs typeface="Canva Sans Bold"/>
                <a:sym typeface="Canva Sans Bold"/>
              </a:rPr>
              <a:t>MC menyebut dan mengucapkan terima kasih kepada sponsor secara lisan (min. 3x).</a:t>
            </a:r>
          </a:p>
          <a:p>
            <a:pPr algn="just">
              <a:lnSpc>
                <a:spcPts val="2170"/>
              </a:lnSpc>
            </a:pPr>
            <a:r>
              <a:rPr lang="en-US" b="true" sz="1550">
                <a:solidFill>
                  <a:srgbClr val="000000"/>
                </a:solidFill>
                <a:latin typeface="Canva Sans Bold"/>
                <a:ea typeface="Canva Sans Bold"/>
                <a:cs typeface="Canva Sans Bold"/>
                <a:sym typeface="Canva Sans Bold"/>
              </a:rPr>
              <a:t>Investasi: Rp 300.000 - Rp 500.000</a:t>
            </a:r>
          </a:p>
        </p:txBody>
      </p:sp>
      <p:sp>
        <p:nvSpPr>
          <p:cNvPr name="TextBox 16" id="16"/>
          <p:cNvSpPr txBox="true"/>
          <p:nvPr/>
        </p:nvSpPr>
        <p:spPr>
          <a:xfrm rot="0">
            <a:off x="1063956" y="6903332"/>
            <a:ext cx="5288803" cy="1078168"/>
          </a:xfrm>
          <a:prstGeom prst="rect">
            <a:avLst/>
          </a:prstGeom>
        </p:spPr>
        <p:txBody>
          <a:bodyPr anchor="t" rtlCol="false" tIns="0" lIns="0" bIns="0" rIns="0">
            <a:spAutoFit/>
          </a:bodyPr>
          <a:lstStyle/>
          <a:p>
            <a:pPr algn="just">
              <a:lnSpc>
                <a:spcPts val="2170"/>
              </a:lnSpc>
            </a:pPr>
            <a:r>
              <a:rPr lang="en-US" sz="1550" b="true">
                <a:solidFill>
                  <a:srgbClr val="000000"/>
                </a:solidFill>
                <a:latin typeface="Canva Sans Bold"/>
                <a:ea typeface="Canva Sans Bold"/>
                <a:cs typeface="Canva Sans Bold"/>
                <a:sym typeface="Canva Sans Bold"/>
              </a:rPr>
              <a:t>Piag</a:t>
            </a:r>
            <a:r>
              <a:rPr lang="en-US" b="true" sz="1550">
                <a:solidFill>
                  <a:srgbClr val="000000"/>
                </a:solidFill>
                <a:latin typeface="Canva Sans Bold"/>
                <a:ea typeface="Canva Sans Bold"/>
                <a:cs typeface="Canva Sans Bold"/>
                <a:sym typeface="Canva Sans Bold"/>
              </a:rPr>
              <a:t>am atau sertifikat apresiasi sebagai bentuk ucapan terima kasih atas kontribusi.</a:t>
            </a:r>
          </a:p>
          <a:p>
            <a:pPr algn="just">
              <a:lnSpc>
                <a:spcPts val="2170"/>
              </a:lnSpc>
            </a:pPr>
            <a:r>
              <a:rPr lang="en-US" b="true" sz="1550">
                <a:solidFill>
                  <a:srgbClr val="000000"/>
                </a:solidFill>
                <a:latin typeface="Canva Sans Bold"/>
                <a:ea typeface="Canva Sans Bold"/>
                <a:cs typeface="Canva Sans Bold"/>
                <a:sym typeface="Canva Sans Bold"/>
              </a:rPr>
              <a:t>Investasi: Rp 150.000</a:t>
            </a:r>
          </a:p>
          <a:p>
            <a:pPr algn="just">
              <a:lnSpc>
                <a:spcPts val="217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94836"/>
            <a:ext cx="6048000" cy="6490420"/>
            <a:chOff x="0" y="0"/>
            <a:chExt cx="2167467" cy="2326020"/>
          </a:xfrm>
        </p:grpSpPr>
        <p:sp>
          <p:nvSpPr>
            <p:cNvPr name="Freeform 4" id="4"/>
            <p:cNvSpPr/>
            <p:nvPr/>
          </p:nvSpPr>
          <p:spPr>
            <a:xfrm flipH="false" flipV="false" rot="0">
              <a:off x="0" y="0"/>
              <a:ext cx="2167467" cy="2326020"/>
            </a:xfrm>
            <a:custGeom>
              <a:avLst/>
              <a:gdLst/>
              <a:ahLst/>
              <a:cxnLst/>
              <a:rect r="r" b="b" t="t" l="l"/>
              <a:pathLst>
                <a:path h="2326020" w="2167467">
                  <a:moveTo>
                    <a:pt x="47363" y="0"/>
                  </a:moveTo>
                  <a:lnTo>
                    <a:pt x="2120104" y="0"/>
                  </a:lnTo>
                  <a:cubicBezTo>
                    <a:pt x="2146262" y="0"/>
                    <a:pt x="2167467" y="21205"/>
                    <a:pt x="2167467" y="47363"/>
                  </a:cubicBezTo>
                  <a:lnTo>
                    <a:pt x="2167467" y="2278657"/>
                  </a:lnTo>
                  <a:cubicBezTo>
                    <a:pt x="2167467" y="2304815"/>
                    <a:pt x="2146262" y="2326020"/>
                    <a:pt x="2120104" y="2326020"/>
                  </a:cubicBezTo>
                  <a:lnTo>
                    <a:pt x="47363" y="2326020"/>
                  </a:lnTo>
                  <a:cubicBezTo>
                    <a:pt x="34802" y="2326020"/>
                    <a:pt x="22755" y="2321030"/>
                    <a:pt x="13872" y="2312148"/>
                  </a:cubicBezTo>
                  <a:cubicBezTo>
                    <a:pt x="4990" y="2303265"/>
                    <a:pt x="0" y="2291218"/>
                    <a:pt x="0" y="2278657"/>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54595"/>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2337379" y="889508"/>
            <a:ext cx="2885242"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denah</a:t>
            </a:r>
          </a:p>
          <a:p>
            <a:pPr algn="ctr">
              <a:lnSpc>
                <a:spcPts val="6719"/>
              </a:lnSpc>
            </a:pPr>
            <a:r>
              <a:rPr lang="en-US" sz="4800">
                <a:solidFill>
                  <a:srgbClr val="FAFAFA"/>
                </a:solidFill>
                <a:latin typeface="Chicalo"/>
                <a:ea typeface="Chicalo"/>
                <a:cs typeface="Chicalo"/>
                <a:sym typeface="Chicalo"/>
              </a:rPr>
              <a:t>kegiatan</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07154" y="3504346"/>
            <a:ext cx="5252505" cy="2146554"/>
          </a:xfrm>
          <a:prstGeom prst="rect">
            <a:avLst/>
          </a:prstGeom>
        </p:spPr>
        <p:txBody>
          <a:bodyPr anchor="t" rtlCol="false" tIns="0" lIns="0" bIns="0" rIns="0">
            <a:spAutoFit/>
          </a:bodyPr>
          <a:lstStyle/>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a:t>
            </a:r>
            <a:r>
              <a:rPr lang="en-US" sz="1699">
                <a:solidFill>
                  <a:srgbClr val="000000"/>
                </a:solidFill>
                <a:latin typeface="Montserrat 1"/>
                <a:ea typeface="Montserrat 1"/>
                <a:cs typeface="Montserrat 1"/>
                <a:sym typeface="Montserrat 1"/>
              </a:rPr>
              <a:t>enjadi salah satu event screening film pendek yang aktif di Semarang.</a:t>
            </a: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Mengangkat nama dan kontribusi komunitas Kronik Filmedia dalam ruang seni dan budaya khususnya bidang perfilman.</a:t>
            </a:r>
          </a:p>
          <a:p>
            <a:pPr algn="just" marL="367029" indent="-183514" lvl="1">
              <a:lnSpc>
                <a:spcPts val="1937"/>
              </a:lnSpc>
              <a:spcBef>
                <a:spcPct val="0"/>
              </a:spcBef>
              <a:buFont typeface="Arial"/>
              <a:buChar char="•"/>
            </a:pPr>
            <a:r>
              <a:rPr lang="en-US" sz="1699">
                <a:solidFill>
                  <a:srgbClr val="000000"/>
                </a:solidFill>
                <a:latin typeface="Montserrat 1"/>
                <a:ea typeface="Montserrat 1"/>
                <a:cs typeface="Montserrat 1"/>
                <a:sym typeface="Montserrat 1"/>
              </a:rPr>
              <a:t>Menjadi ajang pertukaran gagasan antara sineas muda, kurator, dan masyarakat umum.</a:t>
            </a:r>
          </a:p>
          <a:p>
            <a:pPr algn="just">
              <a:lnSpc>
                <a:spcPts val="1937"/>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D100FF">
                <a:alpha val="100000"/>
              </a:srgbClr>
            </a:gs>
            <a:gs pos="100000">
              <a:srgbClr val="FF00CC">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734635"/>
            <a:ext cx="7560000" cy="13435435"/>
          </a:xfrm>
          <a:custGeom>
            <a:avLst/>
            <a:gdLst/>
            <a:ahLst/>
            <a:cxnLst/>
            <a:rect r="r" b="b" t="t" l="l"/>
            <a:pathLst>
              <a:path h="13435435" w="7560000">
                <a:moveTo>
                  <a:pt x="0" y="0"/>
                </a:moveTo>
                <a:lnTo>
                  <a:pt x="7560000" y="0"/>
                </a:lnTo>
                <a:lnTo>
                  <a:pt x="7560000" y="13435434"/>
                </a:lnTo>
                <a:lnTo>
                  <a:pt x="0" y="13435434"/>
                </a:lnTo>
                <a:lnTo>
                  <a:pt x="0" y="0"/>
                </a:lnTo>
                <a:close/>
              </a:path>
            </a:pathLst>
          </a:custGeom>
          <a:blipFill>
            <a:blip r:embed="rId2">
              <a:alphaModFix amt="42000"/>
            </a:blip>
            <a:stretch>
              <a:fillRect l="0" t="0" r="0" b="0"/>
            </a:stretch>
          </a:blipFill>
        </p:spPr>
        <p:txBody>
          <a:bodyPr/>
          <a:p/>
        </p:txBody>
      </p:sp>
      <p:sp>
        <p:nvSpPr>
          <p:cNvPr name="TextBox 3" id="3"/>
          <p:cNvSpPr txBox="true"/>
          <p:nvPr/>
        </p:nvSpPr>
        <p:spPr>
          <a:xfrm rot="0">
            <a:off x="1809158" y="889508"/>
            <a:ext cx="3941683"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why</a:t>
            </a:r>
          </a:p>
          <a:p>
            <a:pPr algn="ctr">
              <a:lnSpc>
                <a:spcPts val="6719"/>
              </a:lnSpc>
            </a:pPr>
            <a:r>
              <a:rPr lang="en-US" sz="4800">
                <a:solidFill>
                  <a:srgbClr val="FAFAFA"/>
                </a:solidFill>
                <a:latin typeface="Chicalo"/>
                <a:ea typeface="Chicalo"/>
                <a:cs typeface="Chicalo"/>
                <a:sym typeface="Chicalo"/>
              </a:rPr>
              <a:t>sponsor us?</a:t>
            </a:r>
          </a:p>
        </p:txBody>
      </p:sp>
      <p:grpSp>
        <p:nvGrpSpPr>
          <p:cNvPr name="Group 4" id="4"/>
          <p:cNvGrpSpPr/>
          <p:nvPr/>
        </p:nvGrpSpPr>
        <p:grpSpPr>
          <a:xfrm rot="0">
            <a:off x="623721" y="9685964"/>
            <a:ext cx="6312557" cy="500072"/>
            <a:chOff x="0" y="0"/>
            <a:chExt cx="8416743" cy="666763"/>
          </a:xfrm>
        </p:grpSpPr>
        <p:sp>
          <p:nvSpPr>
            <p:cNvPr name="Freeform 5" id="5"/>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6" id="6"/>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grpSp>
        <p:nvGrpSpPr>
          <p:cNvPr name="Group 7" id="7"/>
          <p:cNvGrpSpPr/>
          <p:nvPr/>
        </p:nvGrpSpPr>
        <p:grpSpPr>
          <a:xfrm rot="0">
            <a:off x="756000" y="3034114"/>
            <a:ext cx="6048000" cy="1948968"/>
            <a:chOff x="0" y="0"/>
            <a:chExt cx="8064000" cy="2598624"/>
          </a:xfrm>
        </p:grpSpPr>
        <p:grpSp>
          <p:nvGrpSpPr>
            <p:cNvPr name="Group 8" id="8"/>
            <p:cNvGrpSpPr/>
            <p:nvPr/>
          </p:nvGrpSpPr>
          <p:grpSpPr>
            <a:xfrm rot="0">
              <a:off x="0" y="0"/>
              <a:ext cx="8064000" cy="2598624"/>
              <a:chOff x="0" y="0"/>
              <a:chExt cx="2167467" cy="698466"/>
            </a:xfrm>
          </p:grpSpPr>
          <p:sp>
            <p:nvSpPr>
              <p:cNvPr name="Freeform 9" id="9"/>
              <p:cNvSpPr/>
              <p:nvPr/>
            </p:nvSpPr>
            <p:spPr>
              <a:xfrm flipH="false" flipV="false" rot="0">
                <a:off x="0" y="0"/>
                <a:ext cx="2167467" cy="698466"/>
              </a:xfrm>
              <a:custGeom>
                <a:avLst/>
                <a:gdLst/>
                <a:ahLst/>
                <a:cxnLst/>
                <a:rect r="r" b="b" t="t" l="l"/>
                <a:pathLst>
                  <a:path h="698466" w="2167467">
                    <a:moveTo>
                      <a:pt x="47363" y="0"/>
                    </a:moveTo>
                    <a:lnTo>
                      <a:pt x="2120104" y="0"/>
                    </a:lnTo>
                    <a:cubicBezTo>
                      <a:pt x="2146262" y="0"/>
                      <a:pt x="2167467" y="21205"/>
                      <a:pt x="2167467" y="47363"/>
                    </a:cubicBezTo>
                    <a:lnTo>
                      <a:pt x="2167467" y="651103"/>
                    </a:lnTo>
                    <a:cubicBezTo>
                      <a:pt x="2167467" y="663665"/>
                      <a:pt x="2162477" y="675712"/>
                      <a:pt x="2153595" y="684594"/>
                    </a:cubicBezTo>
                    <a:cubicBezTo>
                      <a:pt x="2144712" y="693476"/>
                      <a:pt x="2132665" y="698466"/>
                      <a:pt x="2120104" y="698466"/>
                    </a:cubicBezTo>
                    <a:lnTo>
                      <a:pt x="47363" y="698466"/>
                    </a:lnTo>
                    <a:cubicBezTo>
                      <a:pt x="21205" y="698466"/>
                      <a:pt x="0" y="677261"/>
                      <a:pt x="0" y="651103"/>
                    </a:cubicBezTo>
                    <a:lnTo>
                      <a:pt x="0" y="47363"/>
                    </a:lnTo>
                    <a:cubicBezTo>
                      <a:pt x="0" y="21205"/>
                      <a:pt x="21205" y="0"/>
                      <a:pt x="47363" y="0"/>
                    </a:cubicBezTo>
                    <a:close/>
                  </a:path>
                </a:pathLst>
              </a:custGeom>
              <a:solidFill>
                <a:srgbClr val="FAFAFA">
                  <a:alpha val="50980"/>
                </a:srgbClr>
              </a:solidFill>
            </p:spPr>
          </p:sp>
          <p:sp>
            <p:nvSpPr>
              <p:cNvPr name="TextBox 10" id="10"/>
              <p:cNvSpPr txBox="true"/>
              <p:nvPr/>
            </p:nvSpPr>
            <p:spPr>
              <a:xfrm>
                <a:off x="0" y="-28575"/>
                <a:ext cx="2167467" cy="727041"/>
              </a:xfrm>
              <a:prstGeom prst="rect">
                <a:avLst/>
              </a:prstGeom>
            </p:spPr>
            <p:txBody>
              <a:bodyPr anchor="ctr" rtlCol="false" tIns="50800" lIns="50800" bIns="50800" rIns="50800"/>
              <a:lstStyle/>
              <a:p>
                <a:pPr algn="ctr">
                  <a:lnSpc>
                    <a:spcPts val="1960"/>
                  </a:lnSpc>
                </a:pPr>
              </a:p>
            </p:txBody>
          </p:sp>
        </p:grpSp>
        <p:sp>
          <p:nvSpPr>
            <p:cNvPr name="TextBox 11" id="11"/>
            <p:cNvSpPr txBox="true"/>
            <p:nvPr/>
          </p:nvSpPr>
          <p:spPr>
            <a:xfrm rot="0">
              <a:off x="530330" y="1304490"/>
              <a:ext cx="7003341" cy="8047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Dukungan terhadap Kronik Nonton Film mencerminkan keberpihakan terhadap ruang-ruang edukatif dan kolaboratif yang dibangun oleh dan untuk generasi muda.</a:t>
              </a:r>
            </a:p>
          </p:txBody>
        </p:sp>
        <p:sp>
          <p:nvSpPr>
            <p:cNvPr name="TextBox 12" id="12"/>
            <p:cNvSpPr txBox="true"/>
            <p:nvPr/>
          </p:nvSpPr>
          <p:spPr>
            <a:xfrm rot="0">
              <a:off x="530330" y="416782"/>
              <a:ext cx="7003341" cy="6945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Komitmen terhadap Industri Kreatif dan Anak Muda</a:t>
              </a:r>
            </a:p>
          </p:txBody>
        </p:sp>
      </p:grpSp>
      <p:grpSp>
        <p:nvGrpSpPr>
          <p:cNvPr name="Group 13" id="13"/>
          <p:cNvGrpSpPr/>
          <p:nvPr/>
        </p:nvGrpSpPr>
        <p:grpSpPr>
          <a:xfrm rot="0">
            <a:off x="756000" y="5147642"/>
            <a:ext cx="6048000" cy="1948968"/>
            <a:chOff x="0" y="0"/>
            <a:chExt cx="8064000" cy="2598624"/>
          </a:xfrm>
        </p:grpSpPr>
        <p:grpSp>
          <p:nvGrpSpPr>
            <p:cNvPr name="Group 14" id="14"/>
            <p:cNvGrpSpPr/>
            <p:nvPr/>
          </p:nvGrpSpPr>
          <p:grpSpPr>
            <a:xfrm rot="0">
              <a:off x="0" y="0"/>
              <a:ext cx="8064000" cy="2598624"/>
              <a:chOff x="0" y="0"/>
              <a:chExt cx="2167467" cy="698466"/>
            </a:xfrm>
          </p:grpSpPr>
          <p:sp>
            <p:nvSpPr>
              <p:cNvPr name="Freeform 15" id="15"/>
              <p:cNvSpPr/>
              <p:nvPr/>
            </p:nvSpPr>
            <p:spPr>
              <a:xfrm flipH="false" flipV="false" rot="0">
                <a:off x="0" y="0"/>
                <a:ext cx="2167467" cy="698466"/>
              </a:xfrm>
              <a:custGeom>
                <a:avLst/>
                <a:gdLst/>
                <a:ahLst/>
                <a:cxnLst/>
                <a:rect r="r" b="b" t="t" l="l"/>
                <a:pathLst>
                  <a:path h="698466" w="2167467">
                    <a:moveTo>
                      <a:pt x="47363" y="0"/>
                    </a:moveTo>
                    <a:lnTo>
                      <a:pt x="2120104" y="0"/>
                    </a:lnTo>
                    <a:cubicBezTo>
                      <a:pt x="2146262" y="0"/>
                      <a:pt x="2167467" y="21205"/>
                      <a:pt x="2167467" y="47363"/>
                    </a:cubicBezTo>
                    <a:lnTo>
                      <a:pt x="2167467" y="651103"/>
                    </a:lnTo>
                    <a:cubicBezTo>
                      <a:pt x="2167467" y="663665"/>
                      <a:pt x="2162477" y="675712"/>
                      <a:pt x="2153595" y="684594"/>
                    </a:cubicBezTo>
                    <a:cubicBezTo>
                      <a:pt x="2144712" y="693476"/>
                      <a:pt x="2132665" y="698466"/>
                      <a:pt x="2120104" y="698466"/>
                    </a:cubicBezTo>
                    <a:lnTo>
                      <a:pt x="47363" y="698466"/>
                    </a:lnTo>
                    <a:cubicBezTo>
                      <a:pt x="21205" y="698466"/>
                      <a:pt x="0" y="677261"/>
                      <a:pt x="0" y="651103"/>
                    </a:cubicBezTo>
                    <a:lnTo>
                      <a:pt x="0" y="47363"/>
                    </a:lnTo>
                    <a:cubicBezTo>
                      <a:pt x="0" y="21205"/>
                      <a:pt x="21205" y="0"/>
                      <a:pt x="47363" y="0"/>
                    </a:cubicBezTo>
                    <a:close/>
                  </a:path>
                </a:pathLst>
              </a:custGeom>
              <a:solidFill>
                <a:srgbClr val="FAFAFA">
                  <a:alpha val="50980"/>
                </a:srgbClr>
              </a:solidFill>
            </p:spPr>
          </p:sp>
          <p:sp>
            <p:nvSpPr>
              <p:cNvPr name="TextBox 16" id="16"/>
              <p:cNvSpPr txBox="true"/>
              <p:nvPr/>
            </p:nvSpPr>
            <p:spPr>
              <a:xfrm>
                <a:off x="0" y="-28575"/>
                <a:ext cx="2167467" cy="727041"/>
              </a:xfrm>
              <a:prstGeom prst="rect">
                <a:avLst/>
              </a:prstGeom>
            </p:spPr>
            <p:txBody>
              <a:bodyPr anchor="ctr" rtlCol="false" tIns="50800" lIns="50800" bIns="50800" rIns="50800"/>
              <a:lstStyle/>
              <a:p>
                <a:pPr algn="ctr">
                  <a:lnSpc>
                    <a:spcPts val="1960"/>
                  </a:lnSpc>
                </a:pPr>
              </a:p>
            </p:txBody>
          </p:sp>
        </p:grpSp>
        <p:sp>
          <p:nvSpPr>
            <p:cNvPr name="TextBox 17" id="17"/>
            <p:cNvSpPr txBox="true"/>
            <p:nvPr/>
          </p:nvSpPr>
          <p:spPr>
            <a:xfrm rot="0">
              <a:off x="530330" y="1304490"/>
              <a:ext cx="7003341" cy="8047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Festival ini menjangkau komunitas muda, mahasiswa, kreator, dan penikmat seni visual yang aktif, vokal, dan memiliki pengaruh di lingkaran sosial mereka.</a:t>
              </a:r>
            </a:p>
          </p:txBody>
        </p:sp>
        <p:sp>
          <p:nvSpPr>
            <p:cNvPr name="TextBox 18" id="18"/>
            <p:cNvSpPr txBox="true"/>
            <p:nvPr/>
          </p:nvSpPr>
          <p:spPr>
            <a:xfrm rot="0">
              <a:off x="530330" y="416782"/>
              <a:ext cx="7003341" cy="6945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Aks</a:t>
              </a:r>
              <a:r>
                <a:rPr lang="en-US" b="true" sz="1799">
                  <a:solidFill>
                    <a:srgbClr val="000000"/>
                  </a:solidFill>
                  <a:latin typeface="Montserrat 1 Bold"/>
                  <a:ea typeface="Montserrat 1 Bold"/>
                  <a:cs typeface="Montserrat 1 Bold"/>
                  <a:sym typeface="Montserrat 1 Bold"/>
                </a:rPr>
                <a:t>es Langsung ke Audiens Kreatif dan Terlibat</a:t>
              </a:r>
            </a:p>
          </p:txBody>
        </p:sp>
      </p:grpSp>
      <p:grpSp>
        <p:nvGrpSpPr>
          <p:cNvPr name="Group 19" id="19"/>
          <p:cNvGrpSpPr/>
          <p:nvPr/>
        </p:nvGrpSpPr>
        <p:grpSpPr>
          <a:xfrm rot="0">
            <a:off x="756000" y="7258535"/>
            <a:ext cx="6048000" cy="1891818"/>
            <a:chOff x="0" y="0"/>
            <a:chExt cx="8064000" cy="2522424"/>
          </a:xfrm>
        </p:grpSpPr>
        <p:grpSp>
          <p:nvGrpSpPr>
            <p:cNvPr name="Group 20" id="20"/>
            <p:cNvGrpSpPr/>
            <p:nvPr/>
          </p:nvGrpSpPr>
          <p:grpSpPr>
            <a:xfrm rot="0">
              <a:off x="0" y="0"/>
              <a:ext cx="8064000" cy="2522424"/>
              <a:chOff x="0" y="0"/>
              <a:chExt cx="2167467" cy="677985"/>
            </a:xfrm>
          </p:grpSpPr>
          <p:sp>
            <p:nvSpPr>
              <p:cNvPr name="Freeform 21" id="21"/>
              <p:cNvSpPr/>
              <p:nvPr/>
            </p:nvSpPr>
            <p:spPr>
              <a:xfrm flipH="false" flipV="false" rot="0">
                <a:off x="0" y="0"/>
                <a:ext cx="2167467" cy="677985"/>
              </a:xfrm>
              <a:custGeom>
                <a:avLst/>
                <a:gdLst/>
                <a:ahLst/>
                <a:cxnLst/>
                <a:rect r="r" b="b" t="t" l="l"/>
                <a:pathLst>
                  <a:path h="677985" w="2167467">
                    <a:moveTo>
                      <a:pt x="47363" y="0"/>
                    </a:moveTo>
                    <a:lnTo>
                      <a:pt x="2120104" y="0"/>
                    </a:lnTo>
                    <a:cubicBezTo>
                      <a:pt x="2146262" y="0"/>
                      <a:pt x="2167467" y="21205"/>
                      <a:pt x="2167467" y="47363"/>
                    </a:cubicBezTo>
                    <a:lnTo>
                      <a:pt x="2167467" y="630622"/>
                    </a:lnTo>
                    <a:cubicBezTo>
                      <a:pt x="2167467" y="643183"/>
                      <a:pt x="2162477" y="655230"/>
                      <a:pt x="2153595" y="664113"/>
                    </a:cubicBezTo>
                    <a:cubicBezTo>
                      <a:pt x="2144712" y="672995"/>
                      <a:pt x="2132665" y="677985"/>
                      <a:pt x="2120104" y="677985"/>
                    </a:cubicBezTo>
                    <a:lnTo>
                      <a:pt x="47363" y="677985"/>
                    </a:lnTo>
                    <a:cubicBezTo>
                      <a:pt x="21205" y="677985"/>
                      <a:pt x="0" y="656780"/>
                      <a:pt x="0" y="630622"/>
                    </a:cubicBezTo>
                    <a:lnTo>
                      <a:pt x="0" y="47363"/>
                    </a:lnTo>
                    <a:cubicBezTo>
                      <a:pt x="0" y="21205"/>
                      <a:pt x="21205" y="0"/>
                      <a:pt x="47363" y="0"/>
                    </a:cubicBezTo>
                    <a:close/>
                  </a:path>
                </a:pathLst>
              </a:custGeom>
              <a:solidFill>
                <a:srgbClr val="FAFAFA">
                  <a:alpha val="50980"/>
                </a:srgbClr>
              </a:solidFill>
            </p:spPr>
          </p:sp>
          <p:sp>
            <p:nvSpPr>
              <p:cNvPr name="TextBox 22" id="22"/>
              <p:cNvSpPr txBox="true"/>
              <p:nvPr/>
            </p:nvSpPr>
            <p:spPr>
              <a:xfrm>
                <a:off x="0" y="-28575"/>
                <a:ext cx="2167467" cy="706560"/>
              </a:xfrm>
              <a:prstGeom prst="rect">
                <a:avLst/>
              </a:prstGeom>
            </p:spPr>
            <p:txBody>
              <a:bodyPr anchor="ctr" rtlCol="false" tIns="50800" lIns="50800" bIns="50800" rIns="50800"/>
              <a:lstStyle/>
              <a:p>
                <a:pPr algn="ctr">
                  <a:lnSpc>
                    <a:spcPts val="1960"/>
                  </a:lnSpc>
                </a:pPr>
              </a:p>
            </p:txBody>
          </p:sp>
        </p:grpSp>
        <p:sp>
          <p:nvSpPr>
            <p:cNvPr name="TextBox 23" id="23"/>
            <p:cNvSpPr txBox="true"/>
            <p:nvPr/>
          </p:nvSpPr>
          <p:spPr>
            <a:xfrm rot="0">
              <a:off x="530330" y="961590"/>
              <a:ext cx="7003341" cy="1071499"/>
            </a:xfrm>
            <a:prstGeom prst="rect">
              <a:avLst/>
            </a:prstGeom>
          </p:spPr>
          <p:txBody>
            <a:bodyPr anchor="t" rtlCol="false" tIns="0" lIns="0" bIns="0" rIns="0">
              <a:spAutoFit/>
            </a:bodyPr>
            <a:lstStyle/>
            <a:p>
              <a:pPr algn="ctr">
                <a:lnSpc>
                  <a:spcPts val="1596"/>
                </a:lnSpc>
                <a:spcBef>
                  <a:spcPct val="0"/>
                </a:spcBef>
              </a:pPr>
              <a:r>
                <a:rPr lang="en-US" sz="1400">
                  <a:solidFill>
                    <a:srgbClr val="000000"/>
                  </a:solidFill>
                  <a:latin typeface="Montserrat 1"/>
                  <a:ea typeface="Montserrat 1"/>
                  <a:cs typeface="Montserrat 1"/>
                  <a:sym typeface="Montserrat 1"/>
                </a:rPr>
                <a:t>Dengan menghadirkan logo, produk, atau aktivasi brand dalam ruang yang relevan dan bermakna, sponsor akan mendapatkan eksposur yang tidak hanya luas, tetapi juga berkualitas.</a:t>
              </a:r>
            </a:p>
          </p:txBody>
        </p:sp>
        <p:sp>
          <p:nvSpPr>
            <p:cNvPr name="TextBox 24" id="24"/>
            <p:cNvSpPr txBox="true"/>
            <p:nvPr/>
          </p:nvSpPr>
          <p:spPr>
            <a:xfrm rot="0">
              <a:off x="530330" y="416782"/>
              <a:ext cx="7003341" cy="351663"/>
            </a:xfrm>
            <a:prstGeom prst="rect">
              <a:avLst/>
            </a:prstGeom>
          </p:spPr>
          <p:txBody>
            <a:bodyPr anchor="t" rtlCol="false" tIns="0" lIns="0" bIns="0" rIns="0">
              <a:spAutoFit/>
            </a:bodyPr>
            <a:lstStyle/>
            <a:p>
              <a:pPr algn="ctr">
                <a:lnSpc>
                  <a:spcPts val="2051"/>
                </a:lnSpc>
                <a:spcBef>
                  <a:spcPct val="0"/>
                </a:spcBef>
              </a:pPr>
              <a:r>
                <a:rPr lang="en-US" b="true" sz="1799">
                  <a:solidFill>
                    <a:srgbClr val="000000"/>
                  </a:solidFill>
                  <a:latin typeface="Montserrat 1 Bold"/>
                  <a:ea typeface="Montserrat 1 Bold"/>
                  <a:cs typeface="Montserrat 1 Bold"/>
                  <a:sym typeface="Montserrat 1 Bold"/>
                </a:rPr>
                <a:t>Br</a:t>
              </a:r>
              <a:r>
                <a:rPr lang="en-US" b="true" sz="1799">
                  <a:solidFill>
                    <a:srgbClr val="000000"/>
                  </a:solidFill>
                  <a:latin typeface="Montserrat 1 Bold"/>
                  <a:ea typeface="Montserrat 1 Bold"/>
                  <a:cs typeface="Montserrat 1 Bold"/>
                  <a:sym typeface="Montserrat 1 Bold"/>
                </a:rPr>
                <a:t>and Awareness dan Citra Positif</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33">
                <a:alpha val="100000"/>
              </a:srgbClr>
            </a:gs>
            <a:gs pos="100000">
              <a:srgbClr val="FF00CC">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756000" y="2955558"/>
            <a:ext cx="6048000" cy="6529698"/>
            <a:chOff x="0" y="0"/>
            <a:chExt cx="2167467" cy="2340096"/>
          </a:xfrm>
        </p:grpSpPr>
        <p:sp>
          <p:nvSpPr>
            <p:cNvPr name="Freeform 4" id="4"/>
            <p:cNvSpPr/>
            <p:nvPr/>
          </p:nvSpPr>
          <p:spPr>
            <a:xfrm flipH="false" flipV="false" rot="0">
              <a:off x="0" y="0"/>
              <a:ext cx="2167467" cy="2340096"/>
            </a:xfrm>
            <a:custGeom>
              <a:avLst/>
              <a:gdLst/>
              <a:ahLst/>
              <a:cxnLst/>
              <a:rect r="r" b="b" t="t" l="l"/>
              <a:pathLst>
                <a:path h="2340096" w="2167467">
                  <a:moveTo>
                    <a:pt x="47363" y="0"/>
                  </a:moveTo>
                  <a:lnTo>
                    <a:pt x="2120104" y="0"/>
                  </a:lnTo>
                  <a:cubicBezTo>
                    <a:pt x="2146262" y="0"/>
                    <a:pt x="2167467" y="21205"/>
                    <a:pt x="2167467" y="47363"/>
                  </a:cubicBezTo>
                  <a:lnTo>
                    <a:pt x="2167467" y="2292733"/>
                  </a:lnTo>
                  <a:cubicBezTo>
                    <a:pt x="2167467" y="2305295"/>
                    <a:pt x="2162477" y="2317342"/>
                    <a:pt x="2153595" y="2326224"/>
                  </a:cubicBezTo>
                  <a:cubicBezTo>
                    <a:pt x="2144712" y="2335106"/>
                    <a:pt x="2132665" y="2340096"/>
                    <a:pt x="2120104" y="2340096"/>
                  </a:cubicBezTo>
                  <a:lnTo>
                    <a:pt x="47363" y="2340096"/>
                  </a:lnTo>
                  <a:cubicBezTo>
                    <a:pt x="34802" y="2340096"/>
                    <a:pt x="22755" y="2335106"/>
                    <a:pt x="13872" y="2326224"/>
                  </a:cubicBezTo>
                  <a:cubicBezTo>
                    <a:pt x="4990" y="2317342"/>
                    <a:pt x="0" y="2305295"/>
                    <a:pt x="0" y="2292733"/>
                  </a:cubicBezTo>
                  <a:lnTo>
                    <a:pt x="0" y="47363"/>
                  </a:lnTo>
                  <a:cubicBezTo>
                    <a:pt x="0" y="21205"/>
                    <a:pt x="21205" y="0"/>
                    <a:pt x="47363" y="0"/>
                  </a:cubicBezTo>
                  <a:close/>
                </a:path>
              </a:pathLst>
            </a:custGeom>
            <a:solidFill>
              <a:srgbClr val="FAFAFA">
                <a:alpha val="50980"/>
              </a:srgbClr>
            </a:solidFill>
          </p:spPr>
        </p:sp>
        <p:sp>
          <p:nvSpPr>
            <p:cNvPr name="TextBox 5" id="5"/>
            <p:cNvSpPr txBox="true"/>
            <p:nvPr/>
          </p:nvSpPr>
          <p:spPr>
            <a:xfrm>
              <a:off x="0" y="-28575"/>
              <a:ext cx="2167467" cy="2368671"/>
            </a:xfrm>
            <a:prstGeom prst="rect">
              <a:avLst/>
            </a:prstGeom>
          </p:spPr>
          <p:txBody>
            <a:bodyPr anchor="ctr" rtlCol="false" tIns="50800" lIns="50800" bIns="50800" rIns="50800"/>
            <a:lstStyle/>
            <a:p>
              <a:pPr algn="ctr">
                <a:lnSpc>
                  <a:spcPts val="1960"/>
                </a:lnSpc>
              </a:pPr>
            </a:p>
          </p:txBody>
        </p:sp>
      </p:grpSp>
      <p:sp>
        <p:nvSpPr>
          <p:cNvPr name="TextBox 6" id="6"/>
          <p:cNvSpPr txBox="true"/>
          <p:nvPr/>
        </p:nvSpPr>
        <p:spPr>
          <a:xfrm rot="0">
            <a:off x="1773142" y="889508"/>
            <a:ext cx="4013716" cy="1668780"/>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proses</a:t>
            </a:r>
          </a:p>
          <a:p>
            <a:pPr algn="ctr">
              <a:lnSpc>
                <a:spcPts val="6719"/>
              </a:lnSpc>
            </a:pPr>
            <a:r>
              <a:rPr lang="en-US" sz="4800">
                <a:solidFill>
                  <a:srgbClr val="FAFAFA"/>
                </a:solidFill>
                <a:latin typeface="Chicalo"/>
                <a:ea typeface="Chicalo"/>
                <a:cs typeface="Chicalo"/>
                <a:sym typeface="Chicalo"/>
              </a:rPr>
              <a:t>sponsorship</a:t>
            </a:r>
          </a:p>
        </p:txBody>
      </p:sp>
      <p:grpSp>
        <p:nvGrpSpPr>
          <p:cNvPr name="Group 7" id="7"/>
          <p:cNvGrpSpPr/>
          <p:nvPr/>
        </p:nvGrpSpPr>
        <p:grpSpPr>
          <a:xfrm rot="0">
            <a:off x="623721" y="9685964"/>
            <a:ext cx="6312557" cy="500072"/>
            <a:chOff x="0" y="0"/>
            <a:chExt cx="8416743" cy="666763"/>
          </a:xfrm>
        </p:grpSpPr>
        <p:sp>
          <p:nvSpPr>
            <p:cNvPr name="Freeform 8" id="8"/>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9" id="9"/>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TextBox 10" id="10"/>
          <p:cNvSpPr txBox="true"/>
          <p:nvPr/>
        </p:nvSpPr>
        <p:spPr>
          <a:xfrm rot="0">
            <a:off x="1024728" y="3687541"/>
            <a:ext cx="5510544" cy="5876758"/>
          </a:xfrm>
          <a:prstGeom prst="rect">
            <a:avLst/>
          </a:prstGeom>
        </p:spPr>
        <p:txBody>
          <a:bodyPr anchor="t" rtlCol="false" tIns="0" lIns="0" bIns="0" rIns="0">
            <a:spAutoFit/>
          </a:bodyPr>
          <a:lstStyle/>
          <a:p>
            <a:pPr algn="just">
              <a:lnSpc>
                <a:spcPts val="1759"/>
              </a:lnSpc>
            </a:pPr>
            <a:r>
              <a:rPr lang="en-US" sz="1543" b="true">
                <a:solidFill>
                  <a:srgbClr val="000000"/>
                </a:solidFill>
                <a:latin typeface="Montserrat 1 Bold"/>
                <a:ea typeface="Montserrat 1 Bold"/>
                <a:cs typeface="Montserrat 1 Bold"/>
                <a:sym typeface="Montserrat 1 Bold"/>
              </a:rPr>
              <a:t>1. Hubungi Contact Person di halaman akhir proposal.</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2. Menandatangani Memorandum of Understanding (MoU) yang disediakan oleh panitia.</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3. Melakukan Pembayaran/Donasi Sponsorship ke rekening yang telah ditentukan sesuai dengan paket yang dipilih.</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4. Panitia akan mengirimkan Bukti Penerimaan Dana dan konfirmasi resmi.</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5. Koordinasi Materi Kreatif (seperti logo, konten iklan, atau materi promosi lainnya) dengan tim media panitia sesuai dengan tenggat waktu yang disepakati.</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6. Panitia akan mengeksekusi semua bentuk Fulfillment Benefit (penayangan logo, publikasi, dll) sebagaimana yang tercantum dalam paket sponsorship yang dipilih.</a:t>
            </a:r>
          </a:p>
          <a:p>
            <a:pPr algn="just">
              <a:lnSpc>
                <a:spcPts val="1759"/>
              </a:lnSpc>
            </a:pPr>
          </a:p>
          <a:p>
            <a:pPr algn="just">
              <a:lnSpc>
                <a:spcPts val="1759"/>
              </a:lnSpc>
            </a:pPr>
            <a:r>
              <a:rPr lang="en-US" sz="1543" b="true">
                <a:solidFill>
                  <a:srgbClr val="000000"/>
                </a:solidFill>
                <a:latin typeface="Montserrat 1 Bold"/>
                <a:ea typeface="Montserrat 1 Bold"/>
                <a:cs typeface="Montserrat 1 Bold"/>
                <a:sym typeface="Montserrat 1 Bold"/>
              </a:rPr>
              <a:t>7. Evaluasi dan Laporan Akhir dari panitia setelah acara berlangsung (jika applicable).</a:t>
            </a:r>
          </a:p>
          <a:p>
            <a:pPr algn="just">
              <a:lnSpc>
                <a:spcPts val="1759"/>
              </a:lnSpc>
            </a:pPr>
          </a:p>
          <a:p>
            <a:pPr algn="l">
              <a:lnSpc>
                <a:spcPts val="1525"/>
              </a:lnSpc>
            </a:pPr>
          </a:p>
        </p:txBody>
      </p:sp>
      <p:sp>
        <p:nvSpPr>
          <p:cNvPr name="TextBox 11" id="11"/>
          <p:cNvSpPr txBox="true"/>
          <p:nvPr/>
        </p:nvSpPr>
        <p:spPr>
          <a:xfrm rot="0">
            <a:off x="2262667" y="3134075"/>
            <a:ext cx="3034665" cy="431800"/>
          </a:xfrm>
          <a:prstGeom prst="rect">
            <a:avLst/>
          </a:prstGeom>
        </p:spPr>
        <p:txBody>
          <a:bodyPr anchor="t" rtlCol="false" tIns="0" lIns="0" bIns="0" rIns="0">
            <a:spAutoFit/>
          </a:bodyPr>
          <a:lstStyle/>
          <a:p>
            <a:pPr algn="ctr">
              <a:lnSpc>
                <a:spcPts val="3499"/>
              </a:lnSpc>
            </a:pPr>
            <a:r>
              <a:rPr lang="en-US" sz="2499">
                <a:solidFill>
                  <a:srgbClr val="FAFAFA"/>
                </a:solidFill>
                <a:latin typeface="Chicalo"/>
                <a:ea typeface="Chicalo"/>
                <a:cs typeface="Chicalo"/>
                <a:sym typeface="Chicalo"/>
              </a:rPr>
              <a:t>alur  sponsorship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E4FF">
                <a:alpha val="100000"/>
              </a:srgbClr>
            </a:gs>
            <a:gs pos="100000">
              <a:srgbClr val="D100F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7560000" cy="13435435"/>
          </a:xfrm>
          <a:custGeom>
            <a:avLst/>
            <a:gdLst/>
            <a:ahLst/>
            <a:cxnLst/>
            <a:rect r="r" b="b" t="t" l="l"/>
            <a:pathLst>
              <a:path h="13435435" w="7560000">
                <a:moveTo>
                  <a:pt x="0" y="0"/>
                </a:moveTo>
                <a:lnTo>
                  <a:pt x="7560000" y="0"/>
                </a:lnTo>
                <a:lnTo>
                  <a:pt x="7560000" y="13435435"/>
                </a:lnTo>
                <a:lnTo>
                  <a:pt x="0" y="13435435"/>
                </a:lnTo>
                <a:lnTo>
                  <a:pt x="0" y="0"/>
                </a:lnTo>
                <a:close/>
              </a:path>
            </a:pathLst>
          </a:custGeom>
          <a:blipFill>
            <a:blip r:embed="rId2">
              <a:alphaModFix amt="42000"/>
            </a:blip>
            <a:stretch>
              <a:fillRect l="0" t="0" r="0" b="0"/>
            </a:stretch>
          </a:blipFill>
        </p:spPr>
        <p:txBody>
          <a:bodyPr/>
          <a:p/>
        </p:txBody>
      </p:sp>
      <p:grpSp>
        <p:nvGrpSpPr>
          <p:cNvPr name="Group 3" id="3"/>
          <p:cNvGrpSpPr/>
          <p:nvPr/>
        </p:nvGrpSpPr>
        <p:grpSpPr>
          <a:xfrm rot="0">
            <a:off x="623721" y="9685964"/>
            <a:ext cx="6312557" cy="500072"/>
            <a:chOff x="0" y="0"/>
            <a:chExt cx="8416743" cy="666763"/>
          </a:xfrm>
        </p:grpSpPr>
        <p:sp>
          <p:nvSpPr>
            <p:cNvPr name="Freeform 4" id="4"/>
            <p:cNvSpPr/>
            <p:nvPr/>
          </p:nvSpPr>
          <p:spPr>
            <a:xfrm flipH="false" flipV="false" rot="0">
              <a:off x="0" y="104909"/>
              <a:ext cx="561854" cy="561854"/>
            </a:xfrm>
            <a:custGeom>
              <a:avLst/>
              <a:gdLst/>
              <a:ahLst/>
              <a:cxnLst/>
              <a:rect r="r" b="b" t="t" l="l"/>
              <a:pathLst>
                <a:path h="561854" w="561854">
                  <a:moveTo>
                    <a:pt x="0" y="0"/>
                  </a:moveTo>
                  <a:lnTo>
                    <a:pt x="561854" y="0"/>
                  </a:lnTo>
                  <a:lnTo>
                    <a:pt x="561854" y="561854"/>
                  </a:lnTo>
                  <a:lnTo>
                    <a:pt x="0" y="561854"/>
                  </a:lnTo>
                  <a:lnTo>
                    <a:pt x="0" y="0"/>
                  </a:lnTo>
                  <a:close/>
                </a:path>
              </a:pathLst>
            </a:custGeom>
            <a:blipFill>
              <a:blip r:embed="rId3"/>
              <a:stretch>
                <a:fillRect l="0" t="0" r="0" b="0"/>
              </a:stretch>
            </a:blipFill>
          </p:spPr>
        </p:sp>
        <p:sp>
          <p:nvSpPr>
            <p:cNvPr name="TextBox 5" id="5"/>
            <p:cNvSpPr txBox="true"/>
            <p:nvPr/>
          </p:nvSpPr>
          <p:spPr>
            <a:xfrm rot="0">
              <a:off x="7474411" y="0"/>
              <a:ext cx="942332" cy="601987"/>
            </a:xfrm>
            <a:prstGeom prst="rect">
              <a:avLst/>
            </a:prstGeom>
          </p:spPr>
          <p:txBody>
            <a:bodyPr anchor="t" rtlCol="false" tIns="0" lIns="0" bIns="0" rIns="0">
              <a:spAutoFit/>
            </a:bodyPr>
            <a:lstStyle/>
            <a:p>
              <a:pPr algn="r">
                <a:lnSpc>
                  <a:spcPts val="1211"/>
                </a:lnSpc>
              </a:pPr>
              <a:r>
                <a:rPr lang="en-US" sz="1062" b="true">
                  <a:solidFill>
                    <a:srgbClr val="FAFAFA"/>
                  </a:solidFill>
                  <a:latin typeface="Montserrat 1 Bold"/>
                  <a:ea typeface="Montserrat 1 Bold"/>
                  <a:cs typeface="Montserrat 1 Bold"/>
                  <a:sym typeface="Montserrat 1 Bold"/>
                </a:rPr>
                <a:t>Kronik</a:t>
              </a:r>
            </a:p>
            <a:p>
              <a:pPr algn="r">
                <a:lnSpc>
                  <a:spcPts val="1211"/>
                </a:lnSpc>
              </a:pPr>
              <a:r>
                <a:rPr lang="en-US" sz="1062" b="true">
                  <a:solidFill>
                    <a:srgbClr val="FAFAFA"/>
                  </a:solidFill>
                  <a:latin typeface="Montserrat 1 Bold"/>
                  <a:ea typeface="Montserrat 1 Bold"/>
                  <a:cs typeface="Montserrat 1 Bold"/>
                  <a:sym typeface="Montserrat 1 Bold"/>
                </a:rPr>
                <a:t>Nonton</a:t>
              </a:r>
            </a:p>
            <a:p>
              <a:pPr algn="r">
                <a:lnSpc>
                  <a:spcPts val="1211"/>
                </a:lnSpc>
              </a:pPr>
              <a:r>
                <a:rPr lang="en-US" sz="1062" b="true">
                  <a:solidFill>
                    <a:srgbClr val="FAFAFA"/>
                  </a:solidFill>
                  <a:latin typeface="Montserrat 1 Bold"/>
                  <a:ea typeface="Montserrat 1 Bold"/>
                  <a:cs typeface="Montserrat 1 Bold"/>
                  <a:sym typeface="Montserrat 1 Bold"/>
                </a:rPr>
                <a:t>Film 2025</a:t>
              </a:r>
            </a:p>
          </p:txBody>
        </p:sp>
      </p:grpSp>
      <p:sp>
        <p:nvSpPr>
          <p:cNvPr name="Freeform 6" id="6"/>
          <p:cNvSpPr/>
          <p:nvPr/>
        </p:nvSpPr>
        <p:spPr>
          <a:xfrm flipH="false" flipV="false" rot="0">
            <a:off x="2313302" y="8649084"/>
            <a:ext cx="323839" cy="375299"/>
          </a:xfrm>
          <a:custGeom>
            <a:avLst/>
            <a:gdLst/>
            <a:ahLst/>
            <a:cxnLst/>
            <a:rect r="r" b="b" t="t" l="l"/>
            <a:pathLst>
              <a:path h="375299" w="323839">
                <a:moveTo>
                  <a:pt x="0" y="0"/>
                </a:moveTo>
                <a:lnTo>
                  <a:pt x="323838" y="0"/>
                </a:lnTo>
                <a:lnTo>
                  <a:pt x="323838" y="375299"/>
                </a:lnTo>
                <a:lnTo>
                  <a:pt x="0" y="375299"/>
                </a:lnTo>
                <a:lnTo>
                  <a:pt x="0" y="0"/>
                </a:lnTo>
                <a:close/>
              </a:path>
            </a:pathLst>
          </a:custGeom>
          <a:blipFill>
            <a:blip r:embed="rId4"/>
            <a:stretch>
              <a:fillRect l="0" t="0" r="0" b="0"/>
            </a:stretch>
          </a:blipFill>
        </p:spPr>
        <p:txBody>
          <a:bodyPr/>
          <a:p/>
        </p:txBody>
      </p:sp>
      <p:sp>
        <p:nvSpPr>
          <p:cNvPr name="TextBox 7" id="7"/>
          <p:cNvSpPr txBox="true"/>
          <p:nvPr/>
        </p:nvSpPr>
        <p:spPr>
          <a:xfrm rot="0">
            <a:off x="2034693" y="4463985"/>
            <a:ext cx="3490615" cy="821055"/>
          </a:xfrm>
          <a:prstGeom prst="rect">
            <a:avLst/>
          </a:prstGeom>
        </p:spPr>
        <p:txBody>
          <a:bodyPr anchor="t" rtlCol="false" tIns="0" lIns="0" bIns="0" rIns="0">
            <a:spAutoFit/>
          </a:bodyPr>
          <a:lstStyle/>
          <a:p>
            <a:pPr algn="ctr">
              <a:lnSpc>
                <a:spcPts val="6719"/>
              </a:lnSpc>
            </a:pPr>
            <a:r>
              <a:rPr lang="en-US" sz="4800">
                <a:solidFill>
                  <a:srgbClr val="FAFAFA"/>
                </a:solidFill>
                <a:latin typeface="Chicalo"/>
                <a:ea typeface="Chicalo"/>
                <a:cs typeface="Chicalo"/>
                <a:sym typeface="Chicalo"/>
              </a:rPr>
              <a:t>thank you!</a:t>
            </a:r>
          </a:p>
        </p:txBody>
      </p:sp>
      <p:sp>
        <p:nvSpPr>
          <p:cNvPr name="TextBox 8" id="8"/>
          <p:cNvSpPr txBox="true"/>
          <p:nvPr/>
        </p:nvSpPr>
        <p:spPr>
          <a:xfrm rot="0">
            <a:off x="2873116" y="8027831"/>
            <a:ext cx="1813768" cy="306705"/>
          </a:xfrm>
          <a:prstGeom prst="rect">
            <a:avLst/>
          </a:prstGeom>
        </p:spPr>
        <p:txBody>
          <a:bodyPr anchor="t" rtlCol="false" tIns="0" lIns="0" bIns="0" rIns="0">
            <a:spAutoFit/>
          </a:bodyPr>
          <a:lstStyle/>
          <a:p>
            <a:pPr algn="ctr">
              <a:lnSpc>
                <a:spcPts val="2520"/>
              </a:lnSpc>
            </a:pPr>
            <a:r>
              <a:rPr lang="en-US" sz="1800">
                <a:solidFill>
                  <a:srgbClr val="000000"/>
                </a:solidFill>
                <a:latin typeface="Montserrat 2"/>
                <a:ea typeface="Montserrat 2"/>
                <a:cs typeface="Montserrat 2"/>
                <a:sym typeface="Montserrat 2"/>
              </a:rPr>
              <a:t>Please Contact: </a:t>
            </a:r>
          </a:p>
        </p:txBody>
      </p:sp>
      <p:sp>
        <p:nvSpPr>
          <p:cNvPr name="TextBox 9" id="9"/>
          <p:cNvSpPr txBox="true"/>
          <p:nvPr/>
        </p:nvSpPr>
        <p:spPr>
          <a:xfrm rot="0">
            <a:off x="2873116" y="8664331"/>
            <a:ext cx="2440632" cy="306705"/>
          </a:xfrm>
          <a:prstGeom prst="rect">
            <a:avLst/>
          </a:prstGeom>
        </p:spPr>
        <p:txBody>
          <a:bodyPr anchor="t" rtlCol="false" tIns="0" lIns="0" bIns="0" rIns="0">
            <a:spAutoFit/>
          </a:bodyPr>
          <a:lstStyle/>
          <a:p>
            <a:pPr algn="ctr">
              <a:lnSpc>
                <a:spcPts val="2520"/>
              </a:lnSpc>
            </a:pPr>
            <a:r>
              <a:rPr lang="en-US" sz="1800">
                <a:solidFill>
                  <a:srgbClr val="000000"/>
                </a:solidFill>
                <a:latin typeface="Montserrat 2"/>
                <a:ea typeface="Montserrat 2"/>
                <a:cs typeface="Montserrat 2"/>
                <a:sym typeface="Montserrat 2"/>
              </a:rPr>
              <a:t>081906260275 (Ratu)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DAGusGmEuUg</dc:identifier>
  <dcterms:modified xsi:type="dcterms:W3CDTF">2011-08-01T06:04:30Z</dcterms:modified>
  <cp:revision>1</cp:revision>
  <dc:title>sposorrrrrr</dc:title>
</cp:coreProperties>
</file>